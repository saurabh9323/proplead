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a0d969ab6427d" /><Relationship Type="http://schemas.openxmlformats.org/officeDocument/2006/relationships/extended-properties" Target="/docProps/app.xml" Id="R22b3d8f82d7d4932" /><Relationship Type="http://schemas.openxmlformats.org/officeDocument/2006/relationships/officeDocument" Target="/ppt/presentation.xml" Id="R11759f0b300146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a3956eb132408d"/>
  </p:sldMasterIdLst>
  <p:notesMasterIdLst>
    <p:notesMasterId xmlns:r="http://schemas.openxmlformats.org/officeDocument/2006/relationships" r:id="R833cd36c74764db8"/>
  </p:notesMasterIdLst>
  <p:sldIdLst>
    <p:sldId xmlns:r="http://schemas.openxmlformats.org/officeDocument/2006/relationships" id="256" r:id="R522be11aecb14fba"/>
    <p:sldId xmlns:r="http://schemas.openxmlformats.org/officeDocument/2006/relationships" id="257" r:id="R92a98fe4fea6498e"/>
    <p:sldId xmlns:r="http://schemas.openxmlformats.org/officeDocument/2006/relationships" id="258" r:id="Re0804ebcb83144e1"/>
    <p:sldId xmlns:r="http://schemas.openxmlformats.org/officeDocument/2006/relationships" id="259" r:id="R58190745fc9c42be"/>
    <p:sldId xmlns:r="http://schemas.openxmlformats.org/officeDocument/2006/relationships" id="260" r:id="R2867d27f05e04660"/>
    <p:sldId xmlns:r="http://schemas.openxmlformats.org/officeDocument/2006/relationships" id="261" r:id="Rfcadfaf37a43482a"/>
    <p:sldId xmlns:r="http://schemas.openxmlformats.org/officeDocument/2006/relationships" id="262" r:id="R1a54a3251e27417b"/>
    <p:sldId xmlns:r="http://schemas.openxmlformats.org/officeDocument/2006/relationships" id="263" r:id="Rdf13bcc74aaa477d"/>
    <p:sldId xmlns:r="http://schemas.openxmlformats.org/officeDocument/2006/relationships" id="264" r:id="R6bc0ec87ff284529"/>
    <p:sldId xmlns:r="http://schemas.openxmlformats.org/officeDocument/2006/relationships" id="265" r:id="Rd0429f80b36d4d52"/>
    <p:sldId xmlns:r="http://schemas.openxmlformats.org/officeDocument/2006/relationships" id="266" r:id="Rc4ceae6fd5624465"/>
    <p:sldId xmlns:r="http://schemas.openxmlformats.org/officeDocument/2006/relationships" id="267" r:id="R7f835db19d8e4676"/>
    <p:sldId xmlns:r="http://schemas.openxmlformats.org/officeDocument/2006/relationships" id="268" r:id="Rd6f5fcdf079b4d0c"/>
    <p:sldId xmlns:r="http://schemas.openxmlformats.org/officeDocument/2006/relationships" id="269" r:id="R6dac05f8e3be40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ce0d05e4424721" /><Relationship Type="http://schemas.openxmlformats.org/officeDocument/2006/relationships/slideMaster" Target="/ppt/slideMasters/slideMaster1.xml" Id="Rdfa3956eb132408d" /><Relationship Type="http://schemas.openxmlformats.org/officeDocument/2006/relationships/notesMaster" Target="/ppt/notesMasters/notesMaster1.xml" Id="R833cd36c74764db8" /><Relationship Type="http://schemas.openxmlformats.org/officeDocument/2006/relationships/presProps" Target="/ppt/presProps.xml" Id="Rdae176ebe68a4d76" /><Relationship Type="http://schemas.openxmlformats.org/officeDocument/2006/relationships/tableStyles" Target="/ppt/tableStyles.xml" Id="R87b89680987b4891" /><Relationship Type="http://schemas.openxmlformats.org/officeDocument/2006/relationships/slide" Target="/ppt/slides/slide1.xml" Id="R522be11aecb14fba" /><Relationship Type="http://schemas.openxmlformats.org/officeDocument/2006/relationships/slide" Target="/ppt/slides/slide2.xml" Id="R92a98fe4fea6498e" /><Relationship Type="http://schemas.openxmlformats.org/officeDocument/2006/relationships/slide" Target="/ppt/slides/slide3.xml" Id="Re0804ebcb83144e1" /><Relationship Type="http://schemas.openxmlformats.org/officeDocument/2006/relationships/slide" Target="/ppt/slides/slide4.xml" Id="R58190745fc9c42be" /><Relationship Type="http://schemas.openxmlformats.org/officeDocument/2006/relationships/slide" Target="/ppt/slides/slide5.xml" Id="R2867d27f05e04660" /><Relationship Type="http://schemas.openxmlformats.org/officeDocument/2006/relationships/slide" Target="/ppt/slides/slide6.xml" Id="Rfcadfaf37a43482a" /><Relationship Type="http://schemas.openxmlformats.org/officeDocument/2006/relationships/slide" Target="/ppt/slides/slide7.xml" Id="R1a54a3251e27417b" /><Relationship Type="http://schemas.openxmlformats.org/officeDocument/2006/relationships/slide" Target="/ppt/slides/slide8.xml" Id="Rdf13bcc74aaa477d" /><Relationship Type="http://schemas.openxmlformats.org/officeDocument/2006/relationships/slide" Target="/ppt/slides/slide9.xml" Id="R6bc0ec87ff284529" /><Relationship Type="http://schemas.openxmlformats.org/officeDocument/2006/relationships/slide" Target="/ppt/slides/slide10.xml" Id="Rd0429f80b36d4d52" /><Relationship Type="http://schemas.openxmlformats.org/officeDocument/2006/relationships/slide" Target="/ppt/slides/slide11.xml" Id="Rc4ceae6fd5624465" /><Relationship Type="http://schemas.openxmlformats.org/officeDocument/2006/relationships/slide" Target="/ppt/slides/slide12.xml" Id="R7f835db19d8e4676" /><Relationship Type="http://schemas.openxmlformats.org/officeDocument/2006/relationships/slide" Target="/ppt/slides/slide13.xml" Id="Rd6f5fcdf079b4d0c" /><Relationship Type="http://schemas.openxmlformats.org/officeDocument/2006/relationships/slide" Target="/ppt/slides/slide14.xml" Id="R6dac05f8e3be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6fefa97a4044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f7094e9ac44e16" /><Relationship Type="http://schemas.openxmlformats.org/officeDocument/2006/relationships/notesMaster" Target="/ppt/notesMasters/notesMaster1.xml" Id="R4054bb38438f4f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8894f1a5144098" /><Relationship Type="http://schemas.openxmlformats.org/officeDocument/2006/relationships/notesMaster" Target="/ppt/notesMasters/notesMaster1.xml" Id="R386efe1539fc4b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4b70bd45b747ff" /><Relationship Type="http://schemas.openxmlformats.org/officeDocument/2006/relationships/notesMaster" Target="/ppt/notesMasters/notesMaster1.xml" Id="Rdce8fbeb1a0548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bbbd659818471a" /><Relationship Type="http://schemas.openxmlformats.org/officeDocument/2006/relationships/notesMaster" Target="/ppt/notesMasters/notesMaster1.xml" Id="Rae4f9a6b857a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90363319041b0" /><Relationship Type="http://schemas.openxmlformats.org/officeDocument/2006/relationships/notesMaster" Target="/ppt/notesMasters/notesMaster1.xml" Id="Rfb035679d41d4f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1a689f9b544dfe" /><Relationship Type="http://schemas.openxmlformats.org/officeDocument/2006/relationships/notesMaster" Target="/ppt/notesMasters/notesMaster1.xml" Id="Rcfa4ba9cfa1b48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3b0e3aec424f3e" /><Relationship Type="http://schemas.openxmlformats.org/officeDocument/2006/relationships/notesMaster" Target="/ppt/notesMasters/notesMaster1.xml" Id="R39a5ed701186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3f26d13bb84a72" /><Relationship Type="http://schemas.openxmlformats.org/officeDocument/2006/relationships/notesMaster" Target="/ppt/notesMasters/notesMaster1.xml" Id="Ra4a8faad16424c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b94f7c56104b07" /><Relationship Type="http://schemas.openxmlformats.org/officeDocument/2006/relationships/notesMaster" Target="/ppt/notesMasters/notesMaster1.xml" Id="R8f30bd0ef69a4c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0eeeb4c5fc4e60" /><Relationship Type="http://schemas.openxmlformats.org/officeDocument/2006/relationships/notesMaster" Target="/ppt/notesMasters/notesMaster1.xml" Id="Ra6c731a0e68342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d58f584205408a" /><Relationship Type="http://schemas.openxmlformats.org/officeDocument/2006/relationships/notesMaster" Target="/ppt/notesMasters/notesMaster1.xml" Id="Rffa6da1b0ce84a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9482ac67734d44" /><Relationship Type="http://schemas.openxmlformats.org/officeDocument/2006/relationships/notesMaster" Target="/ppt/notesMasters/notesMaster1.xml" Id="Raf1ee950133940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95e2a74a4a4d81" /><Relationship Type="http://schemas.openxmlformats.org/officeDocument/2006/relationships/notesMaster" Target="/ppt/notesMasters/notesMaster1.xml" Id="Rcf045ea9f26a44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4de38e5e24494e" /><Relationship Type="http://schemas.openxmlformats.org/officeDocument/2006/relationships/notesMaster" Target="/ppt/notesMasters/notesMaster1.xml" Id="R2371accce812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f6e6d505c43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baf9cab4dd4a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27afb7d2a4b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848e8722a40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477f3ff7e44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6bfd8a2c345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124848-1869-40E8-B19E-8C132405B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668080-3CB7-438A-B343-1352ED414F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2526E3-799C-48DB-9EF0-8F17777984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9C6A1E-B065-4B04-B1E1-E1F2B7B0B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49E0E8-5E38-4CCE-A0A3-8E5668546E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2A6A15-FF97-489D-8216-F23F8D111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754E3C-801A-4D83-976A-ED2D96B946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6BE245-2363-4ED4-A831-1C01EB3CBA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94B9B0-FBFA-4589-A9F0-AF56B027D2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FAF499-F98C-46F7-BE75-899136E680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5e550659a74f86" /><Relationship Type="http://schemas.openxmlformats.org/officeDocument/2006/relationships/slideLayout" Target="/ppt/slideLayouts/slideLayout1.xml" Id="R18dae30df5c14cec" /><Relationship Type="http://schemas.openxmlformats.org/officeDocument/2006/relationships/slideLayout" Target="/ppt/slideLayouts/slideLayout2.xml" Id="R9a5c23ec0a504558" /><Relationship Type="http://schemas.openxmlformats.org/officeDocument/2006/relationships/slideLayout" Target="/ppt/slideLayouts/slideLayout3.xml" Id="R6a28329b136f4534" /><Relationship Type="http://schemas.openxmlformats.org/officeDocument/2006/relationships/slideLayout" Target="/ppt/slideLayouts/slideLayout4.xml" Id="Rd6170012b5a54322" /><Relationship Type="http://schemas.openxmlformats.org/officeDocument/2006/relationships/slideLayout" Target="/ppt/slideLayouts/slideLayout5.xml" Id="Raafc64ac02d84cca" /><Relationship Type="http://schemas.openxmlformats.org/officeDocument/2006/relationships/slideLayout" Target="/ppt/slideLayouts/slideLayout6.xml" Id="Rfe0120ab643b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ae30df5c14cec"/>
    <p:sldLayoutId xmlns:r="http://schemas.openxmlformats.org/officeDocument/2006/relationships" id="2147483650" r:id="R9a5c23ec0a504558"/>
    <p:sldLayoutId xmlns:r="http://schemas.openxmlformats.org/officeDocument/2006/relationships" id="2147483651" r:id="R6a28329b136f4534"/>
    <p:sldLayoutId xmlns:r="http://schemas.openxmlformats.org/officeDocument/2006/relationships" id="2147483652" r:id="Rd6170012b5a54322"/>
    <p:sldLayoutId xmlns:r="http://schemas.openxmlformats.org/officeDocument/2006/relationships" id="2147483653" r:id="Raafc64ac02d84cca"/>
    <p:sldLayoutId xmlns:r="http://schemas.openxmlformats.org/officeDocument/2006/relationships" id="2147483654" r:id="Rfe0120ab643b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7d728c4c14a0d" /><Relationship Type="http://schemas.openxmlformats.org/officeDocument/2006/relationships/notesSlide" Target="/ppt/notesSlides/notesSlide1.xml" Id="R6a876fd831b348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aef7dfa344193" /><Relationship Type="http://schemas.openxmlformats.org/officeDocument/2006/relationships/notesSlide" Target="/ppt/notesSlides/notesSlide2.xml" Id="R6e23b600241d41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c3aaa064b4e7a" /><Relationship Type="http://schemas.openxmlformats.org/officeDocument/2006/relationships/notesSlide" Target="/ppt/notesSlides/notesSlide3.xml" Id="R2defc0d3750d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add9239f4489e" /><Relationship Type="http://schemas.openxmlformats.org/officeDocument/2006/relationships/notesSlide" Target="/ppt/notesSlides/notesSlide4.xml" Id="R7dd972a2523e47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99b77e4c74734" /><Relationship Type="http://schemas.openxmlformats.org/officeDocument/2006/relationships/notesSlide" Target="/ppt/notesSlides/notesSlide5.xml" Id="R43273a937b6b42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0d25eb48d4321" /><Relationship Type="http://schemas.openxmlformats.org/officeDocument/2006/relationships/notesSlide" Target="/ppt/notesSlides/notesSlide6.xml" Id="R1afcf355014848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70bc72fa04e8f" /><Relationship Type="http://schemas.openxmlformats.org/officeDocument/2006/relationships/notesSlide" Target="/ppt/notesSlides/notesSlide7.xml" Id="R9a6cce18bf15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3ead38dc44528" /><Relationship Type="http://schemas.openxmlformats.org/officeDocument/2006/relationships/notesSlide" Target="/ppt/notesSlides/notesSlide8.xml" Id="Rf4ae0ddb52f947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6cfae7051749e2" /><Relationship Type="http://schemas.openxmlformats.org/officeDocument/2006/relationships/notesSlide" Target="/ppt/notesSlides/notesSlide9.xml" Id="R5946d7083e8549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5e68ea9b545a5" /><Relationship Type="http://schemas.openxmlformats.org/officeDocument/2006/relationships/notesSlide" Target="/ppt/notesSlides/notesSlide10.xml" Id="Ra5fd88abf4b44b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6294d397f400d" /><Relationship Type="http://schemas.openxmlformats.org/officeDocument/2006/relationships/notesSlide" Target="/ppt/notesSlides/notesSlide11.xml" Id="Rb21e8aca36fe4d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0c857cfc943ff" /><Relationship Type="http://schemas.openxmlformats.org/officeDocument/2006/relationships/notesSlide" Target="/ppt/notesSlides/notesSlide12.xml" Id="R1174bf773c9a4b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fac5663fc4c0b" /><Relationship Type="http://schemas.openxmlformats.org/officeDocument/2006/relationships/notesSlide" Target="/ppt/notesSlides/notesSlide13.xml" Id="R8166da865bef45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b24d1fab14c30" /><Relationship Type="http://schemas.openxmlformats.org/officeDocument/2006/relationships/notesSlide" Target="/ppt/notesSlides/notesSlide14.xml" Id="R4b16fcd16f48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34EE5-A61B-49DC-A15B-2DB3D1A0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A7F3D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A7F3D0"/>
                </a:solidFill>
              </a:defRPr>
            </a:pPr>
            <a:r>
              <a:rPr sz="975" b="1">
                <a:solidFill>
                  <a:srgbClr val="A7F3D0"/>
                </a:solidFill>
              </a:rPr>
              <a:t>PROP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232E2-4C26-477A-83AC-F0690AFB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PropLead CRM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BBB5A-CED2-464E-AC3B-833AE80A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FAE5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FAE5"/>
                </a:solidFill>
              </a:defRPr>
            </a:pPr>
            <a:r>
              <a:rPr sz="1800" b="0">
                <a:solidFill>
                  <a:srgbClr val="D1FAE5"/>
                </a:solidFill>
              </a:rPr>
              <a:t>Technical implementation and upgrade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DE386-C8D3-4832-B415-2B419080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Next.js · Express.js · Supabase PostgreSQL · JWT RBAC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8C309-3F53-42B3-8B70-38D1B4F3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5717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20784-1542-4BD6-828D-1E784CCD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2352F"/>
                </a:solidFill>
              </a:defRPr>
            </a:pPr>
            <a:r>
              <a:rPr sz="5700" b="1">
                <a:solidFill>
                  <a:srgbClr val="12352F"/>
                </a:solidFill>
              </a:rPr>
              <a:t>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E827E-B1FE-460C-855B-0D11611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352F"/>
                </a:solidFill>
              </a:defRPr>
            </a:pPr>
            <a:r>
              <a:rPr sz="1500" b="1">
                <a:solidFill>
                  <a:srgbClr val="12352F"/>
                </a:solidFill>
              </a:rPr>
              <a:t>Lead management mini CRM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0C78A-42BE-443F-A8DC-BE222A8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1</a:t>
            </a:r>
          </a:p>
        </p:txBody>
      </p:sp>
    </p:spTree>
    <p:extLst>
      <p:ext uri="{BB962C8B-B14F-4D97-AF65-F5344CB8AC3E}">
        <p14:creationId xmlns:p14="http://schemas.microsoft.com/office/powerpoint/2010/main" val="140298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F562C-6B34-429F-963B-0D92E8A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1D17A-F083-40B4-83FE-F86121AC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Assignment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DCE23-B56B-457C-A486-64FA7DDC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project satisfies the core mini CRM requirements and keeps the original full stack template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988D7-D4E3-485D-B066-EDB6494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F85BC-4093-44A7-BDC3-A51598DB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4A5B4-664A-4B23-86B2-0A081AE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Lead capture, listing, search, filters, sorting, details, notes and status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56BAB-1D23-4FAA-9DFF-17F6136A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FE97-2313-4523-8A07-DEB28D8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Dashboard metrics from PostgreSQL aggregation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3B460-5EA4-4448-A68D-58ACB2DB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A862F-9E77-46FD-BC5D-3151369E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JWT login, admin and CRM roles, User Master for admin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D901-A494-4D75-AE07-20B8FD7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7D342-D601-4CEA-A78D-50CF417F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Next.js frontend, Express API, Supabase PostgreSQL and layered backend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1933D-C81D-4154-A716-093DC934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2</a:t>
            </a:r>
          </a:p>
        </p:txBody>
      </p:sp>
    </p:spTree>
    <p:extLst>
      <p:ext uri="{BB962C8B-B14F-4D97-AF65-F5344CB8AC3E}">
        <p14:creationId xmlns:p14="http://schemas.microsoft.com/office/powerpoint/2010/main" val="892973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8512A3-02BB-4373-BF24-C4CB6CE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ACA1E-6829-4B76-927B-89450495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39869-8334-49C9-AAE4-C4002BD3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implementation keeps the existing separation between UI, API proxy, backend layers and database routines.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87421-00DE-4DCF-9DB5-90002B4D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A8821-B3F3-49AF-BCD4-A469760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A892A-95E9-4B98-92C0-6868062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Next.js App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AEA72-9E0F-415F-8080-4B19373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813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ECF19-C757-41C2-8CEF-60619C34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39578-4D8E-470D-ADC7-88F656B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Next API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7D77-66FA-45C0-A8F2-0378A52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2AD27-3E40-48D7-BBBC-0763A54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291D9-9B18-4B04-B604-5BBF251F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Express routes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D3BE8-9E11-4C8E-99DC-0B5CC948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5A8AA-F9FD-4372-B43F-D9EB4E2C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13E98-4E35-439C-A36D-D26C8643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D7EEA-6175-477D-9B1A-B43A1F76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DF327-7DBE-4FE6-AA3E-EFBB0841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3A48D-63FB-44D4-A871-6FB886B3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63A8-D836-4DF2-B3CB-0777CBC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783E4-0AE0-4F5A-A10F-0273CA53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76C94-4C2E-4315-89F3-A0A9968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Repositories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7CADF-E599-4603-801B-5866A56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813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05D10-2B87-4C57-98D6-F39B1616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33650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E4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1B2B8-EAB6-4496-94FF-DF0F3D90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622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2352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352F"/>
                </a:solidFill>
              </a:defRPr>
            </a:pPr>
            <a:r>
              <a:rPr sz="1275" b="1">
                <a:solidFill>
                  <a:srgbClr val="12352F"/>
                </a:solidFill>
              </a:rPr>
              <a:t>PostgreSQL functions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65DAC-7557-4815-B092-9ADD6AF3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1F831-8B85-4EEE-A3BB-38BD1FB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Browser calls same-origin /api routes so the HttpOnly auth cookie stays protected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EF20F-32FB-44D3-A992-231B2B14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73329-BA99-434E-8737-D64924A2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Express receives Bearer tokens from the proxy and enforces role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95F73-4BCD-4D10-B440-5C7747B9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1CDFD-47B4-428C-805C-BDD24B97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Repositories call stored PostgreSQL functions through a shared pool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99FAB-733F-4F19-AB63-0AE98E28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3</a:t>
            </a:r>
          </a:p>
        </p:txBody>
      </p:sp>
    </p:spTree>
    <p:extLst>
      <p:ext uri="{BB962C8B-B14F-4D97-AF65-F5344CB8AC3E}">
        <p14:creationId xmlns:p14="http://schemas.microsoft.com/office/powerpoint/2010/main" val="288167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40F46A-92FB-41E6-ACD4-CA7C12DA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7A511-A168-4080-9CDE-6F7D7EAF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Backend request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8AC63-E157-4DC3-AAAF-E8107A0E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Each request moves through a small number of predictable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F42B7-4FD0-49A0-91C3-A653AFE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4800F-BA0B-4691-91D4-84E368CD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A1C38-B9A6-4811-AE7B-2AD0F41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680FF-D243-4CAE-8145-88AE262D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9B5EC-AA93-4B5F-8270-38857CE0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Define REST paths and attach auth or role middleware.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FC5D3-7CBC-47CD-B8E9-3F092F43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82CB0-E9AE-4FCF-B860-9F7C5021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FF851-8C49-47B7-8A30-709492A5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Controllers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69D78-7A7B-4E5B-8A90-F36EE4AB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Read req params/body and return the standard API 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FFC73-F8F2-4EF7-92CD-AA90CE4D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1D488-20FF-460E-9076-2C32738E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1DA81-2019-456C-8729-C9181DA3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A472B-E2D7-44D2-937D-F17FDDEE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Validate input, check permissions, and decide 400/404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3BE35-CD69-44AD-9956-42936BDD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A4FBF-7828-4C82-88C0-807649C0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4BD82-3F8B-4804-A49F-6F9B8DF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Repositories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34989-5D62-4E03-978E-2CF37221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Call parameterized PostgreSQL functions. SQL stays out of controllers.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8E9C3-9715-4EBD-A27B-7507A495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4</a:t>
            </a:r>
          </a:p>
        </p:txBody>
      </p:sp>
    </p:spTree>
    <p:extLst>
      <p:ext uri="{BB962C8B-B14F-4D97-AF65-F5344CB8AC3E}">
        <p14:creationId xmlns:p14="http://schemas.microsoft.com/office/powerpoint/2010/main" val="528714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D2DA1-759B-426A-9460-167FF217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D32EB-FD97-4836-A4FA-A440B0BC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FFFEE-9B56-4606-B65D-8620EDD8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schema stores CRM data with constraints, indexes and database functions.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BFD10-5674-432D-9AB1-24B0A0B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0ABC1-2C32-40DA-92F1-D38E432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D49A7-A722-4F09-8C3B-E0B121F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F2CAE-2D5D-4170-AD4B-C69A8EB0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leads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76F3A-2E30-49E3-AF05-92BCEB8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Stores contact details, budget, location, property type, source, status and timestamps.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6AA21-7E39-458D-8AFD-60A9A96D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132A1-6854-4FC7-AD54-2518AF3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CAD92-9C9F-47AF-82B7-B0A72243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lead_notes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B6239-1A9F-4ED1-A157-5A6F71C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Stores comments for a lead. Foreign key cascade removes notes when a lead is deleted.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4DFA1-4D15-475F-8B2C-17C828DD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553EC-9AC8-4A08-82D4-0F82755C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11162-85D4-45B7-BFA9-B54B35D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users and roles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38C85-0264-4513-8F4B-373BA41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Stores login accounts and role assignment for admin and CRM users.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19918-CF4C-430E-A3CB-3AA72C5D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C0080-E5A5-4AE8-8F04-66D6E8F5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8F6FA-7DE0-447C-964E-E388A4B3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crm_json_* functions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1B6222-8788-4939-AFDF-EC9B1A4A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Return API-ready JSON from PostgreSQL for CRUD, notes, dashboard and users.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A7904-E333-4B08-99CF-D903227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5</a:t>
            </a:r>
          </a:p>
        </p:txBody>
      </p:sp>
    </p:spTree>
    <p:extLst>
      <p:ext uri="{BB962C8B-B14F-4D97-AF65-F5344CB8AC3E}">
        <p14:creationId xmlns:p14="http://schemas.microsoft.com/office/powerpoint/2010/main" val="15535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8D198-5331-4B69-B23D-F7D8EA72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05304-E274-4033-AB4D-818E3AE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REST API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28FAE-C317-458D-8AF2-6A4344D9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backend now exposes REST-style endpoints while preserving compatibility aliases.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64633-2BB2-43D8-A4C8-A0A8A01B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08900-B1C7-437C-A814-73BFB0E3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D9CF8-8F74-45D2-9DFC-55ED6AAB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Leads: POST, GET, GET by ID, PUT, DELETE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8558C-6C18-46C3-B44D-E453030E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F5AD3-2388-4CCF-85B6-48EB6A54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Notes: POST and GET under /api/leads/:id/notes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143B2-FBDD-42F7-B61E-D24E9C74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8948D-47DC-44E0-9E7E-167D3489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Dashboard: GET /api/dashboard with COUNT and GROUP BY aggregation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6426F-0D8B-407C-99DC-4C7B8687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0D022-C4D1-429D-902E-6465139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Users: admin-only list, view, create, edit and delete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2DE0A-B3C3-4B83-A364-B6F409E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6</a:t>
            </a:r>
          </a:p>
        </p:txBody>
      </p:sp>
    </p:spTree>
    <p:extLst>
      <p:ext uri="{BB962C8B-B14F-4D97-AF65-F5344CB8AC3E}">
        <p14:creationId xmlns:p14="http://schemas.microsoft.com/office/powerpoint/2010/main" val="266072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C1049-C78C-4069-A7B5-E63F537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E24F-77F0-40B4-8457-49D8B92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Frontend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B4CB7-F7C5-4A03-A77C-7EF3989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UI uses App Router pages and small client components for interactive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63F6D-2F6C-42F0-8FA9-A3095864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96BE7-24A8-48FC-B6DF-FF388604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21814-1015-4559-96AF-3D28FA0A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E0B0D-1FAE-4659-9EF3-DEEA922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AppShell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58175-A9FC-4A5B-841A-1C30AADA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Responsive sidebar, top search and role-aware navigation.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8FABF-5179-4DFA-95DA-12CF717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6FA2F-3AA7-484E-831F-00702CD7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9B1C5-AC72-4088-85B2-BECD9B4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C7976-1047-48A4-BCAB-3F1AEFD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Live metrics, status distribution and recent lead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F0DB1-6C32-473E-B60E-D2B45A61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B8625-9240-4AF1-988A-F85B3199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841C2-D4C5-4BBC-86EA-A98AB34B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Leads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E4E8B-1F4A-4E46-BFBB-59762649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Search, status tabs, source dropdown, sort controls and row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085E8-0737-4F51-9CEF-AD8598C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75B06-5394-4E2F-A946-3EEB24A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2DE3C-0732-42A0-A413-37B1C22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User Master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D4826-BE72-4BAA-AA0F-FC25224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Admin workspace to create, view, edit and delete users.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402E2-4422-4676-A8D8-4120E3F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7</a:t>
            </a:r>
          </a:p>
        </p:txBody>
      </p:sp>
    </p:spTree>
    <p:extLst>
      <p:ext uri="{BB962C8B-B14F-4D97-AF65-F5344CB8AC3E}">
        <p14:creationId xmlns:p14="http://schemas.microsoft.com/office/powerpoint/2010/main" val="2008679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3A147-2612-4771-BB75-74652661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8F341-6BCC-48A3-9D2B-75497B42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Security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5870C-FF7A-40AC-8295-D8FFB97E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app protects authenticated workflows and rejects invalid input before database writes.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DB6A-DB0F-4541-84B4-36D1C22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8BB87-6293-465C-AD3F-64C4FF13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5DEA4-216D-4A85-8089-0BBEA6C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JWT includes user ID, role and expiry, then moves through the Next proxy as a Bearer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815F7-6B9E-48AF-B35D-C15856E3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16332-266E-4BC5-BA4D-22842FE5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HttpOnly cookies prevent browser JavaScript from reading the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8EE7A-BBC9-4FFF-BB6E-1277FE3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FEEF8-8B49-4751-8F88-C71C4A92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Lead entity validates required fields, optional email format, allowed status and nonnegative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9D1DA-FC67-4BC6-8E34-4997137B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7449F-48B5-48C7-A20E-3F1692FB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Admin-only routes protect User Master and lead deletion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4DFE9-648F-45A0-9A6C-F6A9A0D7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8</a:t>
            </a:r>
          </a:p>
        </p:txBody>
      </p:sp>
    </p:spTree>
    <p:extLst>
      <p:ext uri="{BB962C8B-B14F-4D97-AF65-F5344CB8AC3E}">
        <p14:creationId xmlns:p14="http://schemas.microsoft.com/office/powerpoint/2010/main" val="11148550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F428D4-1387-4EE2-9A38-0E1E8823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889D3-449B-4664-9F3E-9D083BF4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Deployment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D5075-08FE-489C-8C83-C43A79AC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backend and frontend deploy as separate services with explicit environment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75B7E-0FF3-4212-AFF1-FBD506B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6C9D4-B960-456D-BFE1-4E3D621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46B72-B972-4BD9-8582-BE9ACB40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17C5F-F4C4-4473-99DA-E8071A64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Render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0C5B6-BB94-42C6-853A-12938E4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Root directory backend, build command npm ci, start command npm start.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D5F10-8242-476B-86ED-4A1A470D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A9AA5-C225-4A26-8174-F0405AFF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10513-5634-4A55-A8DF-721970B3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Vercel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A1A62-5A50-4156-997D-59DB867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Root directory frontend, build command npm run build.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1949C-AB1F-476C-8CD1-B808A8E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B8C7B-B4EC-4676-9D3C-D01B5D7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DC408-7AE4-42A3-8D81-266FFD38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D2176-6B70-4B2F-81D2-A0A8002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API_BASE_URL points Next.js to the Render backend. Secrets stay out of Git.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4289C-8C89-43B3-9BBD-29C9B2E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5275D-0AFC-40D5-A9CA-1EBE4C9C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0EB8F-08F9-48C3-9664-E7D4EF6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Database 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4BED9-CA76-46F2-9087-D723570F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Run db:setup or execute schema.sql and functions.sql in Supabase.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9ED45-B72C-4598-A722-4EC92C6C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9</a:t>
            </a:r>
          </a:p>
        </p:txBody>
      </p:sp>
    </p:spTree>
    <p:extLst>
      <p:ext uri="{BB962C8B-B14F-4D97-AF65-F5344CB8AC3E}">
        <p14:creationId xmlns:p14="http://schemas.microsoft.com/office/powerpoint/2010/main" val="611138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F572EC-F145-4649-8172-C2A64799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096AD-B6AE-4E81-B516-CC3A497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Advanced feature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D05AB-74FF-45D0-93CB-1329D6FA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These upgrades would make PropLead feel closer to a production CRM.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21BB5-4A9F-43C2-AC7D-C8D658E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71BCF-5B22-4041-A166-27C1D480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30625-5803-408A-B307-9B33E6E2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Lead assignment with owner, priority and SLA due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89D9E-E51E-4D3D-8604-7E78CFB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0D4C4-D083-46BC-B7D7-B7B4875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Kanban pipeline for New, Contacted, Site Visit and Closed stages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E670E-4D78-46EB-89BA-F6A0761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6CC06-CA0F-42C0-9103-64E2EF72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Follow-up reminders with email or WhatsApp notification hooks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FE275-1054-4EC2-8AF9-6A6400B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B9870-3FC5-4EA6-8D89-F524BEB4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Audit log for status, owner and user-management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825E2-55BB-4D15-8015-8934E142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6B611-B40A-4836-94BC-96EB8236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CSV import/export, duplicate detection and bulk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39707-9B34-435F-8AA8-A49885B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18AAA-AE07-49F6-9D0E-CFC7AD7F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Forecasting dashboard with source quality, closure time and budget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3129D-BA64-4F44-BA59-3D6B93A3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10</a:t>
            </a:r>
          </a:p>
        </p:txBody>
      </p:sp>
    </p:spTree>
    <p:extLst>
      <p:ext uri="{BB962C8B-B14F-4D97-AF65-F5344CB8AC3E}">
        <p14:creationId xmlns:p14="http://schemas.microsoft.com/office/powerpoint/2010/main" val="9768554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BF378-3719-440C-942A-485C1EC4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08D57-672A-4B93-ACDA-4E0323E4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Lead operations upgrades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FA75E-96B9-4005-874A-B66C932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These additions improve daily work for CRM users without changing the current lead CRUD foundation.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0C8C4-DD04-4587-82F6-C926032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400F0-0250-4A30-89C1-1CA1B427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AF58-94C1-4ED4-9860-4B7663C2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17BFE-4ABA-44AC-B8C8-C727D61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Lead assignment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9C870-9E34-41F2-840E-1D5500AC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Assign each lead to a CRM user, show owner filters and prevent duplicate follow-up.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FB49-6FC7-414E-9A39-B3C348D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404FB-99E3-4344-B29A-426B934C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05867-929F-4B2A-8D6A-582F092C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Follow-up calendar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29259-9315-4D42-9104-9735E1F6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 due dates, reminders and site visit slots for each lead.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1E32C-4113-4F9D-9994-FD576DCD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5C12E-C750-4CAE-B967-CB1EE068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0B90D-4610-44F8-8469-B07A16F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Kanban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886BD-092F-4E20-A7EF-E1464639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Drag leads across status columns while preserving the existing status API.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2583B3-8BA3-45F1-A016-0E35A7DB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0673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93B1F-EAFA-48D7-AFD9-B202DB05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50D11C-1ECD-4591-83B0-08E58846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20617"/>
                </a:solidFill>
              </a:defRPr>
            </a:pPr>
            <a:r>
              <a:rPr sz="1500" b="1">
                <a:solidFill>
                  <a:srgbClr val="020617"/>
                </a:solidFill>
              </a:rPr>
              <a:t>Duplicate detection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082BA-CFBD-459D-ABF1-C4D6F28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72050"/>
            <a:ext cx="461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Warn users when phone or email already exists before creating a new lead.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94000-96B7-4C97-A76E-0B0E3DB6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11</a:t>
            </a:r>
          </a:p>
        </p:txBody>
      </p:sp>
    </p:spTree>
    <p:extLst>
      <p:ext uri="{BB962C8B-B14F-4D97-AF65-F5344CB8AC3E}">
        <p14:creationId xmlns:p14="http://schemas.microsoft.com/office/powerpoint/2010/main" val="21459859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ECDEC-C4BC-4C87-8700-9186D87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73860-5B19-4348-8E9B-11BFDA8C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Upgrade implementation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8F25C-82C3-461E-829C-68A87196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 safe upgrade plan avoids large rewrites and keeps the current assignment features 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9C0E5-C89B-44CB-8CA3-F0144425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333CE-ABF1-4225-8E42-1AD27E2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58519-1655-4929-9C4F-3E35CD1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Add audit_log, lead_owner and follow_up_due_at columns with migrations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49394-A211-48B7-A43D-C10B242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CA959-538E-4D61-90C6-AA999E8A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Create service methods and PostgreSQL functions for assignment, reminders and activity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9B27-A924-4134-AFB4-F774098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0A169-856C-4151-802C-17D69B37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Add Kanban and calendar views using the existing lead API response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AA6EB-0692-423A-825F-06E6B4D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BD9DC-B331-446B-B5A3-1F789F3C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Move heavy analytics into read-only dashboard functions or materialized 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0BB61-A71C-4229-A400-FD81A8DF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2FB44-9C62-47F8-B481-1A45F2CF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Introduce tests for auth, permissions, lead workflows and user management before scaling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50DEA-E798-4804-98CF-9E8C162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12</a:t>
            </a:r>
          </a:p>
        </p:txBody>
      </p:sp>
    </p:spTree>
    <p:extLst>
      <p:ext uri="{BB962C8B-B14F-4D97-AF65-F5344CB8AC3E}">
        <p14:creationId xmlns:p14="http://schemas.microsoft.com/office/powerpoint/2010/main" val="114069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739F3-4B2A-4D83-96C0-8B226CBA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2352E-482D-4C42-9E47-B0A74C86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Automation and communication upgrades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CC895-E473-420A-97C5-8B856EDF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These features help the team respond faster and keep a clear history of customer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05A2B-08E2-4137-A6DC-6EC6CC5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C7230-9D41-49B1-9081-AE32E743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25584-DFA4-495A-A7C7-90C8990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Email and WhatsApp templates for first contact, site visit confirmation and closure follow-up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ECA5A-AD41-46BC-8DCA-12FFE80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7E20B-E3EC-45C6-93EA-0E1895CD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Reminder notifications for leads with no activity after a configured number of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474E8-4EC4-45DC-89DD-752AA858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2EDDE-54BC-4748-89DE-FF7C6732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Activity timeline that combines notes, status changes, owner changes and reminder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E1886-56E0-4A45-BB9B-159F0EC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101D7-4D98-4C38-A409-AF12AD1E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CSV import with validation preview, duplicate warnings and partial success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FE7E3-9F92-4E58-8780-CCA55D5D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4D99E-52BE-462C-A852-E83A11ED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Export filtered leads for managers without exposing passwords or internal token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1A0D9-F388-46E2-9A6A-38D1FAD8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13</a:t>
            </a:r>
          </a:p>
        </p:txBody>
      </p:sp>
    </p:spTree>
    <p:extLst>
      <p:ext uri="{BB962C8B-B14F-4D97-AF65-F5344CB8AC3E}">
        <p14:creationId xmlns:p14="http://schemas.microsoft.com/office/powerpoint/2010/main" val="1034434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D7B6D-43A4-4187-8B51-C4A7D906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PROPLEAD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5294-CE02-4957-83B1-F6B3B82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20617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20617"/>
                </a:solidFill>
              </a:defRPr>
            </a:pPr>
            <a:r>
              <a:rPr sz="2700" b="1">
                <a:solidFill>
                  <a:srgbClr val="020617"/>
                </a:solidFill>
              </a:rPr>
              <a:t>Analytics and governance upgrades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D501F-61BD-4C52-8EDF-989C1EB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These upgrades make the CRM more useful for management reporting and operational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FD70B-6972-4969-A2ED-E545F8E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4ABC4-778D-4587-9DAC-3142328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018E7-8AA9-4F18-B77B-29033CEC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Source quality score based on conversion rate, average budget and time to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16E5C-7449-49E2-9607-68428B9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B7EE6-DDDC-475A-909C-82F1331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Team performance dashboard with assigned leads, overdue follow-ups and closure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D2CAB-AA47-4E24-BC95-E1DA4AB1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49028-CF03-4921-A5E3-E0F90588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Audit log for create, update, delete and login events with admin-only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21A6D-B66E-4089-A872-7162660A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D2591-8772-4C5E-8754-740F1274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Custom fields for property campaigns without changing the lead table every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19A60-90F8-408A-BBBA-2E1E4F58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F76CC-1D93-4B26-833C-9A330C34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Role permission matrix so admins can tune access beyond the fixed admin and CRM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12284-1E52-4FAC-BDD4-DB5148BF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64748B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PropLead CRM implementation guide · 14</a:t>
            </a:r>
          </a:p>
        </p:txBody>
      </p:sp>
    </p:spTree>
    <p:extLst>
      <p:ext uri="{BB962C8B-B14F-4D97-AF65-F5344CB8AC3E}">
        <p14:creationId xmlns:p14="http://schemas.microsoft.com/office/powerpoint/2010/main" val="189365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2026-10-13T12:47:05.6870000Z</dcterms:created>
  <dcterms:modified xsi:type="dcterms:W3CDTF">2026-10-13T12:47:05.6870000Z</dcterms:modified>
</coreProperties>
</file>