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5e2cab6fe34624" /><Relationship Type="http://schemas.openxmlformats.org/officeDocument/2006/relationships/extended-properties" Target="/docProps/app.xml" Id="Rcf4c42f754e64e2b" /><Relationship Type="http://schemas.openxmlformats.org/officeDocument/2006/relationships/officeDocument" Target="/ppt/presentation.xml" Id="R0bbf2efea4fc40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62ee56726d4802"/>
  </p:sldMasterIdLst>
  <p:notesMasterIdLst>
    <p:notesMasterId xmlns:r="http://schemas.openxmlformats.org/officeDocument/2006/relationships" r:id="R629dab1ffe154e08"/>
  </p:notesMasterIdLst>
  <p:sldIdLst>
    <p:sldId xmlns:r="http://schemas.openxmlformats.org/officeDocument/2006/relationships" id="256" r:id="R74995e88dcd04775"/>
    <p:sldId xmlns:r="http://schemas.openxmlformats.org/officeDocument/2006/relationships" id="257" r:id="R152a3556cfa247de"/>
    <p:sldId xmlns:r="http://schemas.openxmlformats.org/officeDocument/2006/relationships" id="258" r:id="Rf8f01849b1f74525"/>
    <p:sldId xmlns:r="http://schemas.openxmlformats.org/officeDocument/2006/relationships" id="259" r:id="Re80d442ad48b4037"/>
    <p:sldId xmlns:r="http://schemas.openxmlformats.org/officeDocument/2006/relationships" id="260" r:id="R8bcd0434d2e145c4"/>
    <p:sldId xmlns:r="http://schemas.openxmlformats.org/officeDocument/2006/relationships" id="261" r:id="Re191ad1afbf04801"/>
    <p:sldId xmlns:r="http://schemas.openxmlformats.org/officeDocument/2006/relationships" id="262" r:id="R6b6d8786b1db44db"/>
    <p:sldId xmlns:r="http://schemas.openxmlformats.org/officeDocument/2006/relationships" id="263" r:id="R20634fd2520f441d"/>
    <p:sldId xmlns:r="http://schemas.openxmlformats.org/officeDocument/2006/relationships" id="264" r:id="R04bfa811829245c7"/>
    <p:sldId xmlns:r="http://schemas.openxmlformats.org/officeDocument/2006/relationships" id="265" r:id="Rf3bc01ac16cc448a"/>
    <p:sldId xmlns:r="http://schemas.openxmlformats.org/officeDocument/2006/relationships" id="266" r:id="R0cf961721e814e58"/>
    <p:sldId xmlns:r="http://schemas.openxmlformats.org/officeDocument/2006/relationships" id="267" r:id="R9800b02f6fd74aa5"/>
    <p:sldId xmlns:r="http://schemas.openxmlformats.org/officeDocument/2006/relationships" id="268" r:id="Rdb77b66b01b346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0189eddd7f4a4c" /><Relationship Type="http://schemas.openxmlformats.org/officeDocument/2006/relationships/slideMaster" Target="/ppt/slideMasters/slideMaster1.xml" Id="R1262ee56726d4802" /><Relationship Type="http://schemas.openxmlformats.org/officeDocument/2006/relationships/notesMaster" Target="/ppt/notesMasters/notesMaster1.xml" Id="R629dab1ffe154e08" /><Relationship Type="http://schemas.openxmlformats.org/officeDocument/2006/relationships/presProps" Target="/ppt/presProps.xml" Id="Ra29f65265f0c4920" /><Relationship Type="http://schemas.openxmlformats.org/officeDocument/2006/relationships/tableStyles" Target="/ppt/tableStyles.xml" Id="R8289b230156d42a9" /><Relationship Type="http://schemas.openxmlformats.org/officeDocument/2006/relationships/slide" Target="/ppt/slides/slide1.xml" Id="R74995e88dcd04775" /><Relationship Type="http://schemas.openxmlformats.org/officeDocument/2006/relationships/slide" Target="/ppt/slides/slide2.xml" Id="R152a3556cfa247de" /><Relationship Type="http://schemas.openxmlformats.org/officeDocument/2006/relationships/slide" Target="/ppt/slides/slide3.xml" Id="Rf8f01849b1f74525" /><Relationship Type="http://schemas.openxmlformats.org/officeDocument/2006/relationships/slide" Target="/ppt/slides/slide4.xml" Id="Re80d442ad48b4037" /><Relationship Type="http://schemas.openxmlformats.org/officeDocument/2006/relationships/slide" Target="/ppt/slides/slide5.xml" Id="R8bcd0434d2e145c4" /><Relationship Type="http://schemas.openxmlformats.org/officeDocument/2006/relationships/slide" Target="/ppt/slides/slide6.xml" Id="Re191ad1afbf04801" /><Relationship Type="http://schemas.openxmlformats.org/officeDocument/2006/relationships/slide" Target="/ppt/slides/slide7.xml" Id="R6b6d8786b1db44db" /><Relationship Type="http://schemas.openxmlformats.org/officeDocument/2006/relationships/slide" Target="/ppt/slides/slide8.xml" Id="R20634fd2520f441d" /><Relationship Type="http://schemas.openxmlformats.org/officeDocument/2006/relationships/slide" Target="/ppt/slides/slide9.xml" Id="R04bfa811829245c7" /><Relationship Type="http://schemas.openxmlformats.org/officeDocument/2006/relationships/slide" Target="/ppt/slides/slide10.xml" Id="Rf3bc01ac16cc448a" /><Relationship Type="http://schemas.openxmlformats.org/officeDocument/2006/relationships/slide" Target="/ppt/slides/slide11.xml" Id="R0cf961721e814e58" /><Relationship Type="http://schemas.openxmlformats.org/officeDocument/2006/relationships/slide" Target="/ppt/slides/slide12.xml" Id="R9800b02f6fd74aa5" /><Relationship Type="http://schemas.openxmlformats.org/officeDocument/2006/relationships/slide" Target="/ppt/slides/slide13.xml" Id="Rdb77b66b01b346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a53e12eea647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c90dccb4ec4ee5" /><Relationship Type="http://schemas.openxmlformats.org/officeDocument/2006/relationships/notesMaster" Target="/ppt/notesMasters/notesMaster1.xml" Id="R0b6f6d9f223743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a827cc2a5f4370" /><Relationship Type="http://schemas.openxmlformats.org/officeDocument/2006/relationships/notesMaster" Target="/ppt/notesMasters/notesMaster1.xml" Id="R17567233d70946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6c66f161474ff7" /><Relationship Type="http://schemas.openxmlformats.org/officeDocument/2006/relationships/notesMaster" Target="/ppt/notesMasters/notesMaster1.xml" Id="R3845e24c57a144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434394d513475b" /><Relationship Type="http://schemas.openxmlformats.org/officeDocument/2006/relationships/notesMaster" Target="/ppt/notesMasters/notesMaster1.xml" Id="R60261f2a5c9e4b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62d45d2e334f9f" /><Relationship Type="http://schemas.openxmlformats.org/officeDocument/2006/relationships/notesMaster" Target="/ppt/notesMasters/notesMaster1.xml" Id="R635198c76e7b48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7dffaf649e4a9e" /><Relationship Type="http://schemas.openxmlformats.org/officeDocument/2006/relationships/notesMaster" Target="/ppt/notesMasters/notesMaster1.xml" Id="R7d936cb10e3e41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d83178e47f4edb" /><Relationship Type="http://schemas.openxmlformats.org/officeDocument/2006/relationships/notesMaster" Target="/ppt/notesMasters/notesMaster1.xml" Id="R389d8043c3bb4d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0f07e40daf4bc0" /><Relationship Type="http://schemas.openxmlformats.org/officeDocument/2006/relationships/notesMaster" Target="/ppt/notesMasters/notesMaster1.xml" Id="R28272d448a174d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0347ac3a944b2c" /><Relationship Type="http://schemas.openxmlformats.org/officeDocument/2006/relationships/notesMaster" Target="/ppt/notesMasters/notesMaster1.xml" Id="Rae2086ebc60b44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831fdfcd174077" /><Relationship Type="http://schemas.openxmlformats.org/officeDocument/2006/relationships/notesMaster" Target="/ppt/notesMasters/notesMaster1.xml" Id="Rb859dcfb2af84a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f359e1755d4a53" /><Relationship Type="http://schemas.openxmlformats.org/officeDocument/2006/relationships/notesMaster" Target="/ppt/notesMasters/notesMaster1.xml" Id="R3230fd66793340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8c48f0aeb34edd" /><Relationship Type="http://schemas.openxmlformats.org/officeDocument/2006/relationships/notesMaster" Target="/ppt/notesMasters/notesMaster1.xml" Id="R5d49294e519e4d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8570e4f81814097" /><Relationship Type="http://schemas.openxmlformats.org/officeDocument/2006/relationships/notesMaster" Target="/ppt/notesMasters/notesMaster1.xml" Id="Re8b88b30972840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936dab1d50411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5eac15310846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dc86a315746f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69e7c1e81b43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ad9f92cfc64b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40c595dc544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0217D6-D8E4-404F-8CA9-DB2890E8F5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1F41855-A459-435B-880A-17D4AE63CB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B304433-6226-4F4F-9A94-7689B8AD7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A1AE6E-4105-4695-A43C-29B54CDDED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87B2E5-9BFB-467F-8097-D9B270A06B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1962FE-ACE5-4553-8224-676FCC56EF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2B8D28-ECEF-4824-A7A0-ED1F876A6E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6B00852-BA8D-4FAC-834B-3D40361812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240B7B-868B-46E0-8CF9-D2DB1A77F4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B8586E-A5EC-40F7-999C-735DF8FD8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f032684a194965" /><Relationship Type="http://schemas.openxmlformats.org/officeDocument/2006/relationships/slideLayout" Target="/ppt/slideLayouts/slideLayout1.xml" Id="Ra579c4135211435e" /><Relationship Type="http://schemas.openxmlformats.org/officeDocument/2006/relationships/slideLayout" Target="/ppt/slideLayouts/slideLayout2.xml" Id="Re0171e8ea11341eb" /><Relationship Type="http://schemas.openxmlformats.org/officeDocument/2006/relationships/slideLayout" Target="/ppt/slideLayouts/slideLayout3.xml" Id="R721327edf53b472b" /><Relationship Type="http://schemas.openxmlformats.org/officeDocument/2006/relationships/slideLayout" Target="/ppt/slideLayouts/slideLayout4.xml" Id="Rce4a998b6db048a7" /><Relationship Type="http://schemas.openxmlformats.org/officeDocument/2006/relationships/slideLayout" Target="/ppt/slideLayouts/slideLayout5.xml" Id="Rd64165753e90437e" /><Relationship Type="http://schemas.openxmlformats.org/officeDocument/2006/relationships/slideLayout" Target="/ppt/slideLayouts/slideLayout6.xml" Id="R2ae3068d860843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79c4135211435e"/>
    <p:sldLayoutId xmlns:r="http://schemas.openxmlformats.org/officeDocument/2006/relationships" id="2147483650" r:id="Re0171e8ea11341eb"/>
    <p:sldLayoutId xmlns:r="http://schemas.openxmlformats.org/officeDocument/2006/relationships" id="2147483651" r:id="R721327edf53b472b"/>
    <p:sldLayoutId xmlns:r="http://schemas.openxmlformats.org/officeDocument/2006/relationships" id="2147483652" r:id="Rce4a998b6db048a7"/>
    <p:sldLayoutId xmlns:r="http://schemas.openxmlformats.org/officeDocument/2006/relationships" id="2147483653" r:id="Rd64165753e90437e"/>
    <p:sldLayoutId xmlns:r="http://schemas.openxmlformats.org/officeDocument/2006/relationships" id="2147483654" r:id="R2ae3068d860843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8d7c0a19984000" /><Relationship Type="http://schemas.openxmlformats.org/officeDocument/2006/relationships/notesSlide" Target="/ppt/notesSlides/notesSlide1.xml" Id="Ree5dba87ae9944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51ad20484a409a" /><Relationship Type="http://schemas.openxmlformats.org/officeDocument/2006/relationships/notesSlide" Target="/ppt/notesSlides/notesSlide2.xml" Id="Rafd737cdac8346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ffa24200c465c" /><Relationship Type="http://schemas.openxmlformats.org/officeDocument/2006/relationships/notesSlide" Target="/ppt/notesSlides/notesSlide3.xml" Id="R82f28c7fb17943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3cf0cf9491484c" /><Relationship Type="http://schemas.openxmlformats.org/officeDocument/2006/relationships/notesSlide" Target="/ppt/notesSlides/notesSlide4.xml" Id="R697bfa5b2ffc44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a28246a88a4fdf" /><Relationship Type="http://schemas.openxmlformats.org/officeDocument/2006/relationships/notesSlide" Target="/ppt/notesSlides/notesSlide5.xml" Id="Rb300f67a964546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d1449c518d482b" /><Relationship Type="http://schemas.openxmlformats.org/officeDocument/2006/relationships/notesSlide" Target="/ppt/notesSlides/notesSlide6.xml" Id="Rd4f048d2129243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9071038e74f2e" /><Relationship Type="http://schemas.openxmlformats.org/officeDocument/2006/relationships/notesSlide" Target="/ppt/notesSlides/notesSlide7.xml" Id="R8cbc043d6da241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733325084844f0" /><Relationship Type="http://schemas.openxmlformats.org/officeDocument/2006/relationships/notesSlide" Target="/ppt/notesSlides/notesSlide8.xml" Id="Rc001054461e2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5e2f421ee0473f" /><Relationship Type="http://schemas.openxmlformats.org/officeDocument/2006/relationships/notesSlide" Target="/ppt/notesSlides/notesSlide9.xml" Id="Red60694c361f4a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ca2a9bb1f43a8" /><Relationship Type="http://schemas.openxmlformats.org/officeDocument/2006/relationships/notesSlide" Target="/ppt/notesSlides/notesSlide10.xml" Id="Rdc2179d7fbe843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52e27531b4d7a" /><Relationship Type="http://schemas.openxmlformats.org/officeDocument/2006/relationships/notesSlide" Target="/ppt/notesSlides/notesSlide11.xml" Id="R9208db1e9a264f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adf362b0dc4d4d" /><Relationship Type="http://schemas.openxmlformats.org/officeDocument/2006/relationships/notesSlide" Target="/ppt/notesSlides/notesSlide12.xml" Id="Rb033869f5c144e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9aea7f1e5a46d4" /><Relationship Type="http://schemas.openxmlformats.org/officeDocument/2006/relationships/notesSlide" Target="/ppt/notesSlides/notesSlide13.xml" Id="Rf39849ed47f447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6BF2F-5BBC-4AE6-A0A5-7CB19072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A7F3D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7F3D0"/>
                </a:solidFill>
              </a:defRPr>
            </a:pPr>
            <a:r>
              <a:rPr sz="975" b="1">
                <a:solidFill>
                  <a:srgbClr val="A7F3D0"/>
                </a:solidFill>
              </a:rPr>
              <a:t>PROP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EB0E7-E9D6-42C9-BA62-8E732CF7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47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PropLead 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3C13D-83FF-42FC-89FC-2264FC91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D1FAE5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D1FAE5"/>
                </a:solidFill>
              </a:defRPr>
            </a:pPr>
            <a:r>
              <a:rPr sz="1800" b="0">
                <a:solidFill>
                  <a:srgbClr val="D1FAE5"/>
                </a:solidFill>
              </a:rPr>
              <a:t>Technical implementation and upgrade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43FF6-5C85-42ED-9772-05211393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Next.js · Express.js · Supabase PostgreSQL · JWT RBAC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5774F-7689-45DC-802A-F8E02750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257175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0C45F-9964-4299-B724-7D3A11BC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95500"/>
            <a:ext cx="1047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12352F"/>
                </a:solidFill>
              </a:defRPr>
            </a:pPr>
            <a:r>
              <a:rPr sz="5700" b="1">
                <a:solidFill>
                  <a:srgbClr val="12352F"/>
                </a:solidFill>
              </a:rPr>
              <a:t>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821E0-20F1-405B-A567-073B363E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2352F"/>
                </a:solidFill>
              </a:defRPr>
            </a:pPr>
            <a:r>
              <a:rPr sz="1500" b="1">
                <a:solidFill>
                  <a:srgbClr val="12352F"/>
                </a:solidFill>
              </a:rPr>
              <a:t>Lead management mini CRM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23BF6-B155-4735-A2E7-B0817252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1</a:t>
            </a:r>
          </a:p>
        </p:txBody>
      </p:sp>
    </p:spTree>
    <p:extLst>
      <p:ext uri="{BB962C8B-B14F-4D97-AF65-F5344CB8AC3E}">
        <p14:creationId xmlns:p14="http://schemas.microsoft.com/office/powerpoint/2010/main" val="18606952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E2B19-CE0E-4C32-A751-56CCF59B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51771-F318-4F42-BA57-838AC262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Assignment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91FFF-9229-4C12-836F-981266FE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project satisfies the core mini CRM requirements and keeps the original full stack template structure.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5B4819-23E5-4752-B747-AD6A08C3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0EAC0-18AB-446D-8515-76C791D4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0B69D-97EE-45E5-B89A-27C80952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Lead capture, listing, search, filters, sorting, details, notes and status updates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BB4BC-29E5-4725-9FE5-5EDF05CC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CFAAA-E3DD-4578-B621-D6610E4F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Dashboard metrics from PostgreSQL aggregation functions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12EAB-94DD-4845-9EC9-2A7F0AB9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ED2D1-10EC-4340-8487-9E792FB0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JWT login, admin and CRM roles, User Master for admin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27CFE-C2B8-408F-AA98-56508D03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A020E-3DEA-423D-9058-901F3713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Next.js frontend, Express API, Supabase PostgreSQL and layered backend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57B39-4278-45DC-B9A0-037D9E87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2</a:t>
            </a:r>
          </a:p>
        </p:txBody>
      </p:sp>
    </p:spTree>
    <p:extLst>
      <p:ext uri="{BB962C8B-B14F-4D97-AF65-F5344CB8AC3E}">
        <p14:creationId xmlns:p14="http://schemas.microsoft.com/office/powerpoint/2010/main" val="1121452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C2AC7-B77A-4134-A207-C5588242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079B0-4C41-45EE-A862-643D582A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System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3406C-9DD9-4EE0-8CF0-C09F36EB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implementation keeps the existing separation between UI, API proxy, backend layers and database routines.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A9501-457D-44A5-8923-BDFF8C04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4D768-3F8E-4EC8-91AC-E9B08A6E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15CBC-F6C6-4D95-88C1-6BE762D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Next.js App Router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E869E-0EB1-4F9F-A0B6-F15A632F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EDB0-93F2-4133-B54E-D499979F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A5B70-93F8-49D2-BA1F-451BD572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Next API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00F64-9D14-4A05-936C-3E8847BB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89526-630D-4EDD-B389-965D1CB7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568CD6-00FB-4BAC-A9D9-9D632280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Express routes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EC80F0-0BDF-4125-B900-EB336457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CFFE1F-5846-4A92-9106-8DBA55A5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F7896-BCC9-43E0-B2D8-8D0637C2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Controllers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66592E-F64D-488F-B920-844C1295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C684C0-85DC-40C7-BC4D-B6CB3C7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222084-8936-4238-9D41-4399CC0B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02F59-A549-441E-A15A-C2F13A8D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28539D-0880-4D42-9203-98A35B2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65A04F-B51E-42BD-82DA-7E8E9453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Repositories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F8DE02-1389-4944-AF28-1606756B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781300"/>
            <a:ext cx="19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69CECD-15E7-451C-A1C3-25DB0F08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33650"/>
            <a:ext cx="121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874C2-B643-42D7-840B-5224B0CC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622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2352F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2352F"/>
                </a:solidFill>
              </a:defRPr>
            </a:pPr>
            <a:r>
              <a:rPr sz="1275" b="1">
                <a:solidFill>
                  <a:srgbClr val="12352F"/>
                </a:solidFill>
              </a:rPr>
              <a:t>PostgreSQL functions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7F7303-8361-4217-BA0B-D7790A51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4294A8-1C36-4E5C-95B5-18F20C57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Browser calls same-origin /api routes so the HttpOnly auth cookie stays protected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863FE7-0223-46BE-A924-E860D604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983DB6-758C-4A54-8F55-7D8ED1A5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Express receives Bearer tokens from the proxy and enforces role access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9E8A22-04E8-4097-93A6-35A222A3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836029-722A-4849-9F24-B7EF5FE7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Repositories call stored PostgreSQL functions through a shared pool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127964-6DFB-42D9-BC8F-A8CC9560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3</a:t>
            </a:r>
          </a:p>
        </p:txBody>
      </p:sp>
    </p:spTree>
    <p:extLst>
      <p:ext uri="{BB962C8B-B14F-4D97-AF65-F5344CB8AC3E}">
        <p14:creationId xmlns:p14="http://schemas.microsoft.com/office/powerpoint/2010/main" val="8466541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21BF1D-A00E-4FC5-BAD9-A8E28186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207F4-A340-4FFD-890C-C67EF685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Backend request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9CB69-B478-43BB-8BB9-E4E07942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Each request moves through a small number of predictable layers.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296AC-843F-46DE-A8BD-32FA766F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DF02E-03AA-4C09-B11B-D17D440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23BCD-B064-4653-B835-B242D315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565E6-A0F4-45E9-AA79-425DDFEF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Routes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B5797-1D81-44E7-95EE-0782BB4D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Define REST paths and attach auth or role middleware.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22DD5-3076-4A40-9976-DC360804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1C1A7-5969-4E70-BB49-DB69450B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05CA8-0E62-4167-BFEB-16A159A0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Controllers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A52FB-B97A-46EA-8611-B130BFB2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Read req params/body and return the standard API response.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5ADDE-D739-4F1A-9465-833739C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ADA4BD-0CF8-462E-BA5C-C986F38C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15D9A6-C0CD-483E-8AF6-5A39841C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Services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B5AF1-CE5E-4E5D-B296-6957BCFD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Validate input, check permissions, and decide 400/404 behavior.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EA35E-1EFC-4990-A632-BBD09C64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C4204B-B225-43CB-9F8C-1147B02B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8C481-A5AF-4379-939C-D163DA81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Repositories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FBD88F-5634-46A4-9AA7-1A755AE8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Call parameterized PostgreSQL functions. SQL stays out of controllers.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9FBE4-EBF8-48A1-AF31-BF96280F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4</a:t>
            </a:r>
          </a:p>
        </p:txBody>
      </p:sp>
    </p:spTree>
    <p:extLst>
      <p:ext uri="{BB962C8B-B14F-4D97-AF65-F5344CB8AC3E}">
        <p14:creationId xmlns:p14="http://schemas.microsoft.com/office/powerpoint/2010/main" val="13862757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EAB887-7837-4841-B95F-6C106F46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2C4CC-DBEB-49D6-80C0-0EAF78F9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Database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D19F8-F071-4A52-9FF4-865A73BA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schema stores CRM data with constraints, indexes and database functions.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97DA6-3703-433E-AC03-FB1CF850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B1AC4-36DD-496C-83EF-2FD5BAD9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BA935-4566-4A1D-9C18-B294C164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E1DF2-AC1A-488E-A5A4-7128310D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leads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54AAF-3FF7-42A8-99AB-2EBFDFD8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Stores contact details, budget, location, property type, source, status and timestamps.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04634-980C-4FAD-B422-7875780B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FC595-7997-4EDA-84D8-D2917594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6ED86-8832-480C-899F-D8B034DE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lead_notes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6DF057-00AF-4B88-A350-4ADC0E1F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Stores comments for a lead. Foreign key cascade removes notes when a lead is deleted.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78A0E-10F6-4AA1-8534-3ABC5D27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449F8-AEE2-4B0B-8E74-F929661C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BD7DB-8F6E-47B2-BB03-FB8A5853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users and roles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5584B-EA83-44C0-A981-7D983878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Stores login accounts and role assignment for admin and CRM users.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0DB29-2ECD-401C-9B4F-B174E351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8707A4-7FF3-434A-B907-A54AA351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F017C-7EAD-4581-9D20-452B79C6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crm_json_* functions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03A8BB-47EE-4422-8D03-9E0E6C92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Return API-ready JSON from PostgreSQL for CRUD, notes, dashboard and users.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33421F-18D6-454B-9FA7-DAAC2D83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5</a:t>
            </a:r>
          </a:p>
        </p:txBody>
      </p:sp>
    </p:spTree>
    <p:extLst>
      <p:ext uri="{BB962C8B-B14F-4D97-AF65-F5344CB8AC3E}">
        <p14:creationId xmlns:p14="http://schemas.microsoft.com/office/powerpoint/2010/main" val="2033248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D7424-4A47-4D05-92E1-EB5206B5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267D9-D7B1-45C5-AD22-ECE8CB1D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REST API coverage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88BC9-1F86-477D-8A61-8112C1A9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backend now exposes REST-style endpoints while preserving compatibility aliases.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7966-82A5-4F51-B7DF-7FA2F972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21028-E7F5-4A86-B953-4E684312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9194F-7292-48B8-B3C1-367F0A32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Leads: POST, GET, GET by ID, PUT, DELETE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573E2-2BC4-4E02-B3FE-68C5F52C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DE4D0-591B-47B4-9DF1-E58C2136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Notes: POST and GET under /api/leads/:id/notes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69322-D247-47E1-B4BA-B10969D4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CA7F1-C3D6-4D5B-9584-4A69ECE5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Dashboard: GET /api/dashboard with COUNT and GROUP BY aggregation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0E8D6-4BD0-4D3A-B4D2-706F3567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44CCA-70E5-47C9-9402-DD0A6FEE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Users: admin-only list, view, create, edit and delete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0192A-97FC-4BDA-BCD4-588F5392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6</a:t>
            </a:r>
          </a:p>
        </p:txBody>
      </p:sp>
    </p:spTree>
    <p:extLst>
      <p:ext uri="{BB962C8B-B14F-4D97-AF65-F5344CB8AC3E}">
        <p14:creationId xmlns:p14="http://schemas.microsoft.com/office/powerpoint/2010/main" val="13445058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2BDC6F-9633-4360-9A9B-48B62CA8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F4F31-C047-4551-8290-3A985E0A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Frontend modules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67C7D-40A4-4D74-A78D-379E5550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UI uses App Router pages and small client components for interactive workflows.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465CE-7F82-4946-9BE7-A9CA295B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6B4B5-7E1C-4CAC-84F7-D05B1C3B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F3B98-2807-4A60-94F4-8845D3C1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04029-21FA-4E44-AE3B-E63F376B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AppShell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894F24-31AD-4A70-8FE3-51A16B27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Responsive sidebar, top search and role-aware navigation.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9320A-08A4-47C4-ADB9-891C5968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97379-D66D-499D-995E-B47B5B6D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D2E47-5AFD-4A9F-9945-4131E38D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0DAC0-51B3-4BED-BFDE-A402DD5D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Live metrics, status distribution and recent lead 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98A9D-1B15-47F1-8F0A-1BB9119D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985CD2-A914-40E3-801A-996B606B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FADFC-6340-47E0-AA0E-F3987800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Leads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79A7C6-E259-4DFF-9EA6-E0A599CE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Search, status tabs, source dropdown, sort controls and row actions.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73DBB-68AF-4B45-AB4F-D9A69A1D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350AF-A3FD-45C7-A1F6-619F5355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A2B02-E887-421A-BA4D-1B21A25E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User Master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F62E9-8343-4C4A-8622-F7E87FC3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Admin workspace to create, view, edit and delete users.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F95EF5-7387-47AB-9A4F-8568ECA2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7</a:t>
            </a:r>
          </a:p>
        </p:txBody>
      </p:sp>
    </p:spTree>
    <p:extLst>
      <p:ext uri="{BB962C8B-B14F-4D97-AF65-F5344CB8AC3E}">
        <p14:creationId xmlns:p14="http://schemas.microsoft.com/office/powerpoint/2010/main" val="9123033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61DEF-95C0-46A0-8947-51B78746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5A628-0A7D-4802-BEC9-A82FB301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Security and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4E0BF-0147-4BFB-8E94-6386008C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app protects authenticated workflows and rejects invalid input before database writes.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C999D-94C4-4F68-BB75-DE4BF1F2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33741-BE69-4377-8C33-9A2F5C76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B84AD-1EE8-4134-B263-84DF7045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JWT includes user ID, role and expiry, then moves through the Next proxy as a Bearer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5B8E7-C5D7-416F-9617-FA2B1BF9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FF35C-9414-48B8-906D-479E73F9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HttpOnly cookies prevent browser JavaScript from reading the token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2EB55-8B11-4248-B3B0-E6A45D72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57931-F014-48E6-93A7-2CEDBCE5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Lead entity validates required fields, optional email format, allowed status and nonnegative budget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0942F-2AED-42D2-98EB-2DE4900A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75027C-D0CB-4EB5-9695-763A5123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Admin-only routes protect User Master and lead deletion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8DC9E-0A9C-411F-96DB-89838DA3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8</a:t>
            </a:r>
          </a:p>
        </p:txBody>
      </p:sp>
    </p:spTree>
    <p:extLst>
      <p:ext uri="{BB962C8B-B14F-4D97-AF65-F5344CB8AC3E}">
        <p14:creationId xmlns:p14="http://schemas.microsoft.com/office/powerpoint/2010/main" val="128035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10A7D2-5422-411D-A89F-888F623E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CBA20-490F-4236-AE51-3673416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Deployment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0A219-3845-460E-A68C-5E8C415C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backend and frontend deploy as separate services with explicit environment configuration.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53A5F-3609-413C-9102-9FB9D2D1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9D49A-D1DA-4FD5-A1AB-A903068C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344C-E1CF-49E5-AF12-1A65DA62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BCC93C-9408-4301-94F8-9B4C8250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Render 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B3AA8E-0C67-43F7-A760-8DAF3A95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Root directory backend, build command npm ci, start command npm start.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9C14C1-25A6-4C70-883C-66B51117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F8703-1B7A-4A76-9604-1AAB97FF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9330F-FB44-42F3-92E3-BB180883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Vercel frontend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843F4-7FA2-44E7-8102-AB98519E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Root directory frontend, build command npm run build.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7BC77-66CC-4C0C-89DE-7C7A3A32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6BA73-D24B-4F1A-A1E8-0DFF17B2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32D82F-936F-47C5-82E7-BF5DB776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Environment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75D71-BD08-4453-ADEA-CF49E25B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API_BASE_URL points Next.js to the Render backend. Secrets stay out of Git.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C6EE2-94F4-456D-9B12-BCB15143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BC3AD-647F-43B8-9656-7E9DB818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858349-5CFA-4072-A882-0A72A26A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Database setup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C58946-CBAE-45E3-B6E5-BD8EAD17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Run db:setup or execute schema.sql and functions.sql in Supabase.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2F58AD-7625-4483-8E07-5C6D2F6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9</a:t>
            </a:r>
          </a:p>
        </p:txBody>
      </p:sp>
    </p:spTree>
    <p:extLst>
      <p:ext uri="{BB962C8B-B14F-4D97-AF65-F5344CB8AC3E}">
        <p14:creationId xmlns:p14="http://schemas.microsoft.com/office/powerpoint/2010/main" val="15597110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3AC39-B5D0-4709-B786-EFB005A1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76CED-C304-4664-912E-BC74C789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Advanced feature 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8B5B-5F2E-4319-9094-F128E2C1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These upgrades would make PropLead feel closer to a production CRM.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7CA85-AD62-4E0A-B85E-ADEA6F2D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625C0-2028-4971-8057-C836806D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1A52A-3F5C-4468-8EE7-0CABC742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Lead assignment with owner, priority and SLA due 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D0AEB-2C4D-401E-9272-73902CF3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ACD0F-E7D0-4FC6-9AD4-BA1F0132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Kanban pipeline for New, Contacted, Site Visit and Closed stages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80551-56CA-4FB8-AF94-021ECE42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DCD56-9ED4-4C04-8830-F61CC40E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Follow-up reminders with email or WhatsApp notification hooks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B1B31-7CD9-4715-8A48-5CB54DB9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379F5-4BD6-44BB-85B1-B924A071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Audit log for status, owner and user-management changes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71586-716A-412D-95C0-FFB62501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2B836B-ECBB-4283-B36F-CFFE4FD8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387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CSV import/export, duplicate detection and bulk 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5BE1AB-578C-4F37-8EBD-86AF38C9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7A5B4E-D43F-431E-B627-07AAA25C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911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Forecasting dashboard with source quality, closure time and budget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6B7FF-EE42-4543-8BBC-A74DB86C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10</a:t>
            </a:r>
          </a:p>
        </p:txBody>
      </p:sp>
    </p:spTree>
    <p:extLst>
      <p:ext uri="{BB962C8B-B14F-4D97-AF65-F5344CB8AC3E}">
        <p14:creationId xmlns:p14="http://schemas.microsoft.com/office/powerpoint/2010/main" val="20890759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7B37-7F1A-4614-BA8B-7DF61021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EB8FF-B86B-4E0B-9BE3-868BE95D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Horizontal and vertical scaling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EE8A5-C20E-44CB-81BC-1B1F0424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Both scaling styles can work together. The right choice depends on traffic, database load and operational cost.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CFEEC-9EB0-474C-B965-5ACE7C99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2EC15-D632-4E07-AB40-7FBA3683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3CBCF-278C-479A-9A28-1DEEB466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4DD96-1DFD-47E3-8F4F-1368DB46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Vertical scaling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D1B4-FAB4-4CFF-B7B4-10787BFB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Increase CPU, RAM and database capacity. Use a larger Render instance and Supabase compute plan when traffic grows gradually.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D04E4-0746-4CB7-B402-90EAC7D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F462C-B81A-4288-BE99-0FC3E8B1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374843-7594-4E07-B31A-1ADF8329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Horizontal scaling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E8785-F739-44F2-9435-A4B27F3C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0040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Run multiple stateless API instances behind a load balancer. Keep JWT auth and database state outside the server.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107F27-A50A-4062-85AF-F800C21E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49255-46AE-4794-8F8E-F03BA058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54581-098C-4B4B-915B-75E68F01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Database scaling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71A62C-0434-4849-B750-AB550D31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Use Supabase pooler, indexes, read replicas for reporting and query pagination to reduce pressure on the primary database.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28B5E-8040-4F10-8E1F-8B25AD58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0673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BDC4B-858F-4381-8E2C-86B63907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434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51A60B-C6B3-4D86-8FCC-D3DBC0CF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20617"/>
                </a:solidFill>
              </a:defRPr>
            </a:pPr>
            <a:r>
              <a:rPr sz="1500" b="1">
                <a:solidFill>
                  <a:srgbClr val="020617"/>
                </a:solidFill>
              </a:rPr>
              <a:t>Frontend scaling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D93EB3-5BCD-4B9E-BD71-B4D28B54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461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Let Vercel serve static assets globally and keep API proxy routes lightweight.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95614-0C4E-48DB-A52E-AC103FDE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11</a:t>
            </a:r>
          </a:p>
        </p:txBody>
      </p:sp>
    </p:spTree>
    <p:extLst>
      <p:ext uri="{BB962C8B-B14F-4D97-AF65-F5344CB8AC3E}">
        <p14:creationId xmlns:p14="http://schemas.microsoft.com/office/powerpoint/2010/main" val="19011073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63C60-4BC4-4592-9CDF-0F824E4C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475D4-96DA-421F-AFA5-9C606F55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Upgrade implementation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62A30-5E23-4F39-BB4B-3C8988C2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A safe upgrade plan avoids large rewrites and keeps the current assignment features stable.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A8156-701A-4DB3-B1A4-C8B11AF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6E440-60F9-43AA-8D0C-8F266F67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C838B-00F2-4B34-88DD-296501FB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Add audit_log, lead_owner and follow_up_due_at columns with migrations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3BFD81-2C63-483B-9161-378A1A32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C889F-C3B8-43F0-88B6-9C43A64E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Create service methods and PostgreSQL functions for assignment, reminders and activity history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011B3-CE7B-44F2-AFE6-FA8EA396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E21E6-8C18-4298-ABE9-763FFCD2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Add Kanban and calendar views using the existing lead API response shape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648A5-CBCC-4018-813E-514174DD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5F4FB-E4E5-4E28-99CE-643D479A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Move heavy analytics into read-only dashboard functions or materialized views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11562-5AFF-43B3-AB35-DCE4AFC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BC38B-30D6-42C6-8ABE-376A8A3B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387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Introduce tests for auth, permissions, lead workflows and user management before scaling 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434CE-5822-4F39-9640-C1894846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12</a:t>
            </a:r>
          </a:p>
        </p:txBody>
      </p:sp>
    </p:spTree>
    <p:extLst>
      <p:ext uri="{BB962C8B-B14F-4D97-AF65-F5344CB8AC3E}">
        <p14:creationId xmlns:p14="http://schemas.microsoft.com/office/powerpoint/2010/main" val="803138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CB1F8B-A168-493A-B876-F753F4BD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0F766E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PROPLEAD CRM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459F3-0FE5-47F3-89BC-124E22F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20617"/>
                </a:solidFill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20617"/>
                </a:solidFill>
              </a:defRPr>
            </a:pPr>
            <a:r>
              <a:rPr sz="2700" b="1">
                <a:solidFill>
                  <a:srgbClr val="020617"/>
                </a:solidFill>
              </a:rPr>
              <a:t>Interview talking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79646-09CE-4F84-8649-FA16BC69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The project demonstrates full stack ownership across UI, API design, data modeling and deployment.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08DE6-6819-4673-9562-DFD59A43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FE69F-0126-417C-9859-4DD0EA02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D35BC-3F00-476A-A262-04F3240E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 reused the template architecture instead of replacing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8AD97-1CBE-41DE-96CF-67426F17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5448C-D0CD-4216-ACC0-93993BFF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 kept validation in the entity and service layer so controllers stay simple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09741-B9F5-41B3-815F-0C3A7597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14304-05A1-49B5-A38A-4984318E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 used PostgreSQL constraints and functions to protect data integrity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BC705-8B00-49DD-AD1C-96D74010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94004D-3B7B-4C62-A57F-20102FC4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 added role-based workflows and kept browser auth in an HttpOnly cookie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71C8F-2A67-41E8-BC27-F0F96AA4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D04F9-AC87-4F0D-B814-FF0684BF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387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I can explain how the app scales vertically first and horizontally when the API becomes stateless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C65E1-7FDC-4764-902B-765BA02A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PropLead CRM implementation guide · 13</a:t>
            </a:r>
          </a:p>
        </p:txBody>
      </p:sp>
    </p:spTree>
    <p:extLst>
      <p:ext uri="{BB962C8B-B14F-4D97-AF65-F5344CB8AC3E}">
        <p14:creationId xmlns:p14="http://schemas.microsoft.com/office/powerpoint/2010/main" val="15098944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2026-10-13T12:40:33.3610000Z</dcterms:created>
  <dcterms:modified xsi:type="dcterms:W3CDTF">2026-10-13T12:40:33.3610000Z</dcterms:modified>
</coreProperties>
</file>