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9040b82e0848e3" /><Relationship Type="http://schemas.openxmlformats.org/officeDocument/2006/relationships/extended-properties" Target="/docProps/app.xml" Id="Rde7804a475d445ba" /><Relationship Type="http://schemas.openxmlformats.org/officeDocument/2006/relationships/officeDocument" Target="/ppt/presentation.xml" Id="Refadf92fabbd49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74bbfc5054a22"/>
  </p:sldMasterIdLst>
  <p:notesMasterIdLst>
    <p:notesMasterId xmlns:r="http://schemas.openxmlformats.org/officeDocument/2006/relationships" r:id="R5a7908cf025549ac"/>
  </p:notesMasterIdLst>
  <p:sldIdLst>
    <p:sldId xmlns:r="http://schemas.openxmlformats.org/officeDocument/2006/relationships" id="256" r:id="Re96b8727ade84081"/>
    <p:sldId xmlns:r="http://schemas.openxmlformats.org/officeDocument/2006/relationships" id="257" r:id="R8672587f81404637"/>
    <p:sldId xmlns:r="http://schemas.openxmlformats.org/officeDocument/2006/relationships" id="258" r:id="Radf98f35421f4e9c"/>
    <p:sldId xmlns:r="http://schemas.openxmlformats.org/officeDocument/2006/relationships" id="259" r:id="Rd1dd5a162c2140cd"/>
    <p:sldId xmlns:r="http://schemas.openxmlformats.org/officeDocument/2006/relationships" id="260" r:id="Rdbc4faeec4934a13"/>
    <p:sldId xmlns:r="http://schemas.openxmlformats.org/officeDocument/2006/relationships" id="261" r:id="R08d2cf884f2b448b"/>
    <p:sldId xmlns:r="http://schemas.openxmlformats.org/officeDocument/2006/relationships" id="262" r:id="R03f99b45a67e4f7f"/>
    <p:sldId xmlns:r="http://schemas.openxmlformats.org/officeDocument/2006/relationships" id="263" r:id="R57574226ea1b4a54"/>
    <p:sldId xmlns:r="http://schemas.openxmlformats.org/officeDocument/2006/relationships" id="264" r:id="R1c26ea0a202d4925"/>
    <p:sldId xmlns:r="http://schemas.openxmlformats.org/officeDocument/2006/relationships" id="265" r:id="R9805037e85c3467b"/>
    <p:sldId xmlns:r="http://schemas.openxmlformats.org/officeDocument/2006/relationships" id="266" r:id="R3f2de641dbf642f1"/>
    <p:sldId xmlns:r="http://schemas.openxmlformats.org/officeDocument/2006/relationships" id="267" r:id="Rd6997d70c0c34325"/>
    <p:sldId xmlns:r="http://schemas.openxmlformats.org/officeDocument/2006/relationships" id="268" r:id="Re33340fa40fc4098"/>
    <p:sldId xmlns:r="http://schemas.openxmlformats.org/officeDocument/2006/relationships" id="269" r:id="Rb100b32bae1a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68155a677f49f3" /><Relationship Type="http://schemas.openxmlformats.org/officeDocument/2006/relationships/slideMaster" Target="/ppt/slideMasters/slideMaster1.xml" Id="R6d574bbfc5054a22" /><Relationship Type="http://schemas.openxmlformats.org/officeDocument/2006/relationships/notesMaster" Target="/ppt/notesMasters/notesMaster1.xml" Id="R5a7908cf025549ac" /><Relationship Type="http://schemas.openxmlformats.org/officeDocument/2006/relationships/presProps" Target="/ppt/presProps.xml" Id="R37adfe6a49be4325" /><Relationship Type="http://schemas.openxmlformats.org/officeDocument/2006/relationships/tableStyles" Target="/ppt/tableStyles.xml" Id="Rbe35933e3f1b4249" /><Relationship Type="http://schemas.openxmlformats.org/officeDocument/2006/relationships/slide" Target="/ppt/slides/slide1.xml" Id="Re96b8727ade84081" /><Relationship Type="http://schemas.openxmlformats.org/officeDocument/2006/relationships/slide" Target="/ppt/slides/slide2.xml" Id="R8672587f81404637" /><Relationship Type="http://schemas.openxmlformats.org/officeDocument/2006/relationships/slide" Target="/ppt/slides/slide3.xml" Id="Radf98f35421f4e9c" /><Relationship Type="http://schemas.openxmlformats.org/officeDocument/2006/relationships/slide" Target="/ppt/slides/slide4.xml" Id="Rd1dd5a162c2140cd" /><Relationship Type="http://schemas.openxmlformats.org/officeDocument/2006/relationships/slide" Target="/ppt/slides/slide5.xml" Id="Rdbc4faeec4934a13" /><Relationship Type="http://schemas.openxmlformats.org/officeDocument/2006/relationships/slide" Target="/ppt/slides/slide6.xml" Id="R08d2cf884f2b448b" /><Relationship Type="http://schemas.openxmlformats.org/officeDocument/2006/relationships/slide" Target="/ppt/slides/slide7.xml" Id="R03f99b45a67e4f7f" /><Relationship Type="http://schemas.openxmlformats.org/officeDocument/2006/relationships/slide" Target="/ppt/slides/slide8.xml" Id="R57574226ea1b4a54" /><Relationship Type="http://schemas.openxmlformats.org/officeDocument/2006/relationships/slide" Target="/ppt/slides/slide9.xml" Id="R1c26ea0a202d4925" /><Relationship Type="http://schemas.openxmlformats.org/officeDocument/2006/relationships/slide" Target="/ppt/slides/slide10.xml" Id="R9805037e85c3467b" /><Relationship Type="http://schemas.openxmlformats.org/officeDocument/2006/relationships/slide" Target="/ppt/slides/slide11.xml" Id="R3f2de641dbf642f1" /><Relationship Type="http://schemas.openxmlformats.org/officeDocument/2006/relationships/slide" Target="/ppt/slides/slide12.xml" Id="Rd6997d70c0c34325" /><Relationship Type="http://schemas.openxmlformats.org/officeDocument/2006/relationships/slide" Target="/ppt/slides/slide13.xml" Id="Re33340fa40fc4098" /><Relationship Type="http://schemas.openxmlformats.org/officeDocument/2006/relationships/slide" Target="/ppt/slides/slide14.xml" Id="Rb100b32bae1a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cd39d738440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210d7e8ddb4548" /><Relationship Type="http://schemas.openxmlformats.org/officeDocument/2006/relationships/notesMaster" Target="/ppt/notesMasters/notesMaster1.xml" Id="Ra25f36254b2a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3f487779624131" /><Relationship Type="http://schemas.openxmlformats.org/officeDocument/2006/relationships/notesMaster" Target="/ppt/notesMasters/notesMaster1.xml" Id="R9bdc0a1465124e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b12e660254b94" /><Relationship Type="http://schemas.openxmlformats.org/officeDocument/2006/relationships/notesMaster" Target="/ppt/notesMasters/notesMaster1.xml" Id="R87c98af660f0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ae8b59b26d4d3a" /><Relationship Type="http://schemas.openxmlformats.org/officeDocument/2006/relationships/notesMaster" Target="/ppt/notesMasters/notesMaster1.xml" Id="Rf72632c090fe40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47541ade224986" /><Relationship Type="http://schemas.openxmlformats.org/officeDocument/2006/relationships/notesMaster" Target="/ppt/notesMasters/notesMaster1.xml" Id="R8c515a4101304f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ab1a9147074bba" /><Relationship Type="http://schemas.openxmlformats.org/officeDocument/2006/relationships/notesMaster" Target="/ppt/notesMasters/notesMaster1.xml" Id="R928ce720d0b142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7e1a33bdfe423c" /><Relationship Type="http://schemas.openxmlformats.org/officeDocument/2006/relationships/notesMaster" Target="/ppt/notesMasters/notesMaster1.xml" Id="R69fb0a7342c64a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85015364df4f1e" /><Relationship Type="http://schemas.openxmlformats.org/officeDocument/2006/relationships/notesMaster" Target="/ppt/notesMasters/notesMaster1.xml" Id="R70b19317bf9545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507c3c90040c0" /><Relationship Type="http://schemas.openxmlformats.org/officeDocument/2006/relationships/notesMaster" Target="/ppt/notesMasters/notesMaster1.xml" Id="Rf12769f9742747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ed75455ff46d0" /><Relationship Type="http://schemas.openxmlformats.org/officeDocument/2006/relationships/notesMaster" Target="/ppt/notesMasters/notesMaster1.xml" Id="R052f4dbb9e2846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a45593290a457e" /><Relationship Type="http://schemas.openxmlformats.org/officeDocument/2006/relationships/notesMaster" Target="/ppt/notesMasters/notesMaster1.xml" Id="R2efdb87ca12447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ca7c4deb3743d7" /><Relationship Type="http://schemas.openxmlformats.org/officeDocument/2006/relationships/notesMaster" Target="/ppt/notesMasters/notesMaster1.xml" Id="Ra6b513ac472345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816f70ae8f4d27" /><Relationship Type="http://schemas.openxmlformats.org/officeDocument/2006/relationships/notesMaster" Target="/ppt/notesMasters/notesMaster1.xml" Id="Rab7d913d7e804c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1592f5814d4abb" /><Relationship Type="http://schemas.openxmlformats.org/officeDocument/2006/relationships/notesMaster" Target="/ppt/notesMasters/notesMaster1.xml" Id="Rda89c23802194c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 requirements and D:/PropLead repository. Future scope is explicitly excluded from current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frontend/app/(protected), backend/src/routes, backend/sql/functions.sql. Coverage describes implemented functionality, not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frontend/components/Leads, backend/src/services/leadService.js. Screenshot: local lead-detail.png, synthetic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backend/sql/functions.sql crm_dashboard, frontend/components/Dashboard/DashboardComp.js. Screenshot uses 23 synthetic leads, not business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frontend/package.json, backend/package.json, backend/src/db/routines.js, backend/sql/functions.sql.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backend/sql/functions.sql crm_json_* routines and backend/src/controllers. Code is an abbreviated illustration of the implemented note-list routine.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backend/src/utils/pagination.js, backend/sql/functions.sql, frontend/components/Pagination.jsx. Example uses synthetic fixture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frontend/app/login/LoginForm.jsx, frontend/components/AppShell.js, frontend/components/Leads/LeadsComp.js, frontend/lib/auth.js. Screenshot: demo-login.png.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backend/test/crm.test.js, backend/test/database.test.js, README.md. Eight automated backend tests passed against isolated fixtures and PGlite. Earlier frontend lint/build and browser acceptance passed. Configured PostgreSQL schema installation and JSON page-size verification completed successfully.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 requirements, README.md, backend/sql/schema.sql. Product assumptions should be confirmed before expanding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future scope. Proposed design only. Backend enforcement remains necessary even when the UI hides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future scope. Proposed sequence only. Existing reusable components and route loading do not equal this broader library.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future scope. No refresh tokens, audit log, ledger or cache was added in this implementation. Ledger assumes payment/accounting requirements are introduced.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proposed implementation plan based on user future-scope requests. No dates, cost or effort estimates are committed.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119a53a21b4e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40271761f4c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0ca3a1de249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7564ae2c784e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f3a01568143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c88fceb4a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2AF354-4AB3-4026-9F53-5FB636682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44C16F-AEF8-4712-8B1E-C45DF689D6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C218760-76C9-46E3-91FE-3889F0A362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DA9F9-D8A0-4005-9347-636B23B864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7DD69E-6D2D-458D-8CAF-FD69CB412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5B10F9-8551-4E69-B632-0DB2EADF6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B55AD9-902D-4333-8171-B762418A0F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AC3EDD-9918-45A3-898F-5176F72268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7031D1-6807-4C71-A8D8-80652FA81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454A32-4E4A-4743-85DB-AA2A92A3D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a52d6c4f8741cb" /><Relationship Type="http://schemas.openxmlformats.org/officeDocument/2006/relationships/slideLayout" Target="/ppt/slideLayouts/slideLayout1.xml" Id="R48f242ec8c90426d" /><Relationship Type="http://schemas.openxmlformats.org/officeDocument/2006/relationships/slideLayout" Target="/ppt/slideLayouts/slideLayout2.xml" Id="Rbcc40ba700ed4192" /><Relationship Type="http://schemas.openxmlformats.org/officeDocument/2006/relationships/slideLayout" Target="/ppt/slideLayouts/slideLayout3.xml" Id="Ra9b4189cef7841d3" /><Relationship Type="http://schemas.openxmlformats.org/officeDocument/2006/relationships/slideLayout" Target="/ppt/slideLayouts/slideLayout4.xml" Id="R67365bb92fe54bae" /><Relationship Type="http://schemas.openxmlformats.org/officeDocument/2006/relationships/slideLayout" Target="/ppt/slideLayouts/slideLayout5.xml" Id="R4a2ed1db2cc5425c" /><Relationship Type="http://schemas.openxmlformats.org/officeDocument/2006/relationships/slideLayout" Target="/ppt/slideLayouts/slideLayout6.xml" Id="R0d56d90267704b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242ec8c90426d"/>
    <p:sldLayoutId xmlns:r="http://schemas.openxmlformats.org/officeDocument/2006/relationships" id="2147483650" r:id="Rbcc40ba700ed4192"/>
    <p:sldLayoutId xmlns:r="http://schemas.openxmlformats.org/officeDocument/2006/relationships" id="2147483651" r:id="Ra9b4189cef7841d3"/>
    <p:sldLayoutId xmlns:r="http://schemas.openxmlformats.org/officeDocument/2006/relationships" id="2147483652" r:id="R67365bb92fe54bae"/>
    <p:sldLayoutId xmlns:r="http://schemas.openxmlformats.org/officeDocument/2006/relationships" id="2147483653" r:id="R4a2ed1db2cc5425c"/>
    <p:sldLayoutId xmlns:r="http://schemas.openxmlformats.org/officeDocument/2006/relationships" id="2147483654" r:id="R0d56d90267704b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6b09934624939" /><Relationship Type="http://schemas.openxmlformats.org/officeDocument/2006/relationships/notesSlide" Target="/ppt/notesSlides/notesSlide1.xml" Id="R4b57e951e98746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66bbed99a4464" /><Relationship Type="http://schemas.openxmlformats.org/officeDocument/2006/relationships/notesSlide" Target="/ppt/notesSlides/notesSlide2.xml" Id="R0daad6058f3c4c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83982f700b4ce5" /><Relationship Type="http://schemas.openxmlformats.org/officeDocument/2006/relationships/image" Target="/ppt/media/image.jpeg" Id="R68970ca78c934563" /><Relationship Type="http://schemas.openxmlformats.org/officeDocument/2006/relationships/notesSlide" Target="/ppt/notesSlides/notesSlide3.xml" Id="R8348b863d86a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525308eb64226" /><Relationship Type="http://schemas.openxmlformats.org/officeDocument/2006/relationships/image" Target="/ppt/media/image2.jpeg" Id="R94263f5a312947c7" /><Relationship Type="http://schemas.openxmlformats.org/officeDocument/2006/relationships/notesSlide" Target="/ppt/notesSlides/notesSlide4.xml" Id="R7472b23a5583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294fb674b4f4e" /><Relationship Type="http://schemas.openxmlformats.org/officeDocument/2006/relationships/notesSlide" Target="/ppt/notesSlides/notesSlide5.xml" Id="R2c9f1215de124a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2185a608e040b1" /><Relationship Type="http://schemas.openxmlformats.org/officeDocument/2006/relationships/notesSlide" Target="/ppt/notesSlides/notesSlide6.xml" Id="R7fa886f33bd64d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8128f0af804700" /><Relationship Type="http://schemas.openxmlformats.org/officeDocument/2006/relationships/notesSlide" Target="/ppt/notesSlides/notesSlide7.xml" Id="Rd4e87e94887441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2b60e48b349f5" /><Relationship Type="http://schemas.openxmlformats.org/officeDocument/2006/relationships/image" Target="/ppt/media/image3.jpeg" Id="Rdc2753a62df045de" /><Relationship Type="http://schemas.openxmlformats.org/officeDocument/2006/relationships/notesSlide" Target="/ppt/notesSlides/notesSlide8.xml" Id="R53d1068f9b36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3c8e8a3e8412d" /><Relationship Type="http://schemas.openxmlformats.org/officeDocument/2006/relationships/notesSlide" Target="/ppt/notesSlides/notesSlide9.xml" Id="R310fad9bdc4e4e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fe1d6b0794cbc" /><Relationship Type="http://schemas.openxmlformats.org/officeDocument/2006/relationships/notesSlide" Target="/ppt/notesSlides/notesSlide10.xml" Id="Rb30182df78ef46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ef059387c42b3" /><Relationship Type="http://schemas.openxmlformats.org/officeDocument/2006/relationships/notesSlide" Target="/ppt/notesSlides/notesSlide11.xml" Id="Rce9593faf7e043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4c3d56cc2640cc" /><Relationship Type="http://schemas.openxmlformats.org/officeDocument/2006/relationships/notesSlide" Target="/ppt/notesSlides/notesSlide12.xml" Id="R4517e19b7c784b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2522292d5e4757" /><Relationship Type="http://schemas.openxmlformats.org/officeDocument/2006/relationships/notesSlide" Target="/ppt/notesSlides/notesSlide13.xml" Id="R5404ad4ae25b4f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ad6d31eee04014" /><Relationship Type="http://schemas.openxmlformats.org/officeDocument/2006/relationships/notesSlide" Target="/ppt/notesSlides/notesSlide14.xml" Id="R98fcf4d856544b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11846-05A7-44CA-ACE4-D4B91563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5032B-4A90-47C2-94E6-D5AC36B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CEE1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CEE1D5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CEE1D5"/>
                </a:solidFill>
                <a:latin typeface="Arial"/>
                <a:ea typeface="Arial"/>
                <a:cs typeface="Arial"/>
              </a:rPr>
              <a:t>Real estate lead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27777-CDF5-460C-A049-8CD9A7F2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CRM, architecture and future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D9BD7-F1ED-4DAC-81F4-02E09C0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CEE1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EE1D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EE1D5"/>
                </a:solidFill>
                <a:latin typeface="Arial"/>
                <a:ea typeface="Arial"/>
                <a:cs typeface="Arial"/>
              </a:rPr>
              <a:t>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24549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59A3-C5FD-4C7F-BB7A-D09DC377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Requirement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23421-385A-471A-8D89-A3FB673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C3155-158B-4F2F-A5AF-B48D41DC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74250-50F4-459F-A869-8D82A8FECC1E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T w="9525">
                      <a:solidFill>
                        <a:srgbClr val="D9E0D9"/>
                      </a:solidFill>
                      <a:prstDash val="solid"/>
                    </a:lnT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15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Implemented behavior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T w="9525">
                      <a:solidFill>
                        <a:srgbClr val="D9E0D9"/>
                      </a:solidFill>
                      <a:prstDash val="solid"/>
                    </a:lnT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152F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Lead capture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Name, phone, email, budget, location, property type and source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Lead listing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Search by name/phone, source/status filters, date/budget sorting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Lead detail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View, edit, notes and four lead statuses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Dashboard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Totals, source breakdown, status distribution and conversion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REST APIs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CRUD, validation, stored functions and role checks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3711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8C5A3-5C99-47BB-9997-0558116F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Lead capture and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1F2BA-BC63-410C-B269-6859CB26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C9C36-CE9E-42D8-A79E-D61C7C5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6C72F-51EE-4F29-9BBB-4067B3B7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New</a:t>
            </a:r>
          </a:p>
          <a:p xmlns:a="http://schemas.openxmlformats.org/drawingml/2006/main">
            <a:pPr>
              <a:defRPr sz="25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Contacted</a:t>
            </a:r>
          </a:p>
          <a:p xmlns:a="http://schemas.openxmlformats.org/drawingml/2006/main">
            <a:pPr>
              <a:defRPr sz="25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Site Visit</a:t>
            </a:r>
          </a:p>
          <a:p xmlns:a="http://schemas.openxmlformats.org/drawingml/2006/main">
            <a:pPr>
              <a:defRPr sz="25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EACC6-C737-4643-B80B-BEF9201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Notes preserve the follow-up context. Admins can delete a lead with confirmation.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9D74F-59C9-4F51-8F53-7EB6E04A6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70ca78c934563"/>
          <a:stretch xmlns:a="http://schemas.openxmlformats.org/drawingml/2006/main"/>
        </p:blipFill>
        <p:spPr>
          <a:xfrm xmlns:a="http://schemas.openxmlformats.org/drawingml/2006/main">
            <a:off x="6473256" y="1552575"/>
            <a:ext cx="2712589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337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2B136-101E-457D-B9E9-E1BBBF52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Dashboard and recent leads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C068B-225A-4310-9950-98E023E4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C9682-4C71-430A-8D0F-5D8B7201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ED06D-9E04-4121-AF28-4DB3A12A2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63f5a312947c7"/>
          <a:stretch xmlns:a="http://schemas.openxmlformats.org/drawingml/2006/main"/>
        </p:blipFill>
        <p:spPr>
          <a:xfrm xmlns:a="http://schemas.openxmlformats.org/drawingml/2006/main">
            <a:off x="611205" y="1381125"/>
            <a:ext cx="8664539" cy="4876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FDAC8-96A2-4CD3-BD9E-D12FBC9A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Global metrics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658FE-8351-42C3-A25D-EFBFE80B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2047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All leads contribute to totals and charts.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DB48A-97C2-4A46-9896-A9B11DD4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Paged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B1E7-43A1-4C7F-B3E8-5A754E8E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2047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The dropdown controls recent leads per page.</a:t>
            </a:r>
          </a:p>
        </p:txBody>
      </p:sp>
    </p:spTree>
    <p:extLst>
      <p:ext uri="{BB962C8B-B14F-4D97-AF65-F5344CB8AC3E}">
        <p14:creationId xmlns:p14="http://schemas.microsoft.com/office/powerpoint/2010/main" val="2064830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32F0A-3B2B-41FA-A99B-B2B65072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Current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CE61B-F822-4FB9-8D71-B7C62DFE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2B216-4FD4-444A-85D6-3D5C7F6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F3A97-406B-4DBD-9026-89CB2C9B8764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T w="9525">
                      <a:solidFill>
                        <a:srgbClr val="D9E0D9"/>
                      </a:solidFill>
                      <a:prstDash val="solid"/>
                    </a:lnT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15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T w="9525">
                      <a:solidFill>
                        <a:srgbClr val="D9E0D9"/>
                      </a:solidFill>
                      <a:prstDash val="solid"/>
                    </a:lnT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152F2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Next.js and React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Pages, forms, charts and client navigation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Express REST API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Validation, authorization, password checks and token signing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Repository gateway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Allowlisted, parameterized stored-function calls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0D9"/>
                      </a:solidFill>
                      <a:prstDash val="solid"/>
                    </a:lnL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F2A"/>
                          </a:solidFill>
                          <a:latin typeface="Arial"/>
                          <a:ea typeface="Arial"/>
                          <a:cs typeface="Arial"/>
                        </a:rPr>
                        <a:t>CRUD, aggregation, ordering, pagination and success JSON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0D9"/>
                      </a:solidFill>
                      <a:prstDash val="solid"/>
                    </a:lnR>
                    <a:lnB w="9525">
                      <a:solidFill>
                        <a:srgbClr val="D9E0D9"/>
                      </a:solidFill>
                      <a:prstDash val="solid"/>
                    </a:lnB>
                    <a:solidFill>
                      <a:srgbClr val="F6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2529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76D79-A2CB-4E5F-BE91-FFA7FCD4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PostgreSQL owns the success JSON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7B380-B0AB-48F8-B2F7-9B0390B0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A8289-F8E1-408C-8AB1-2B7008A3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9668E-6DD1-4218-8FA0-43397C1F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Lists use jsonb_agg. Objects use jsonb_build_object and to_jsonb.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A09EA-6B95-4F51-9719-8F60E6F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5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SELECT jsonb_build_object(</a:t>
            </a:r>
          </a:p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  'message', 'Lead notes retrieved successfully',</a:t>
            </a:r>
          </a:p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  'data', COALESCE(</a:t>
            </a:r>
          </a:p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    jsonb_agg(to_jsonb(r) ORDER BY created_at DESC, id DESC),</a:t>
            </a:r>
          </a:p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    '[]'::jsonb))</a:t>
            </a:r>
          </a:p>
          <a:p xmlns:a="http://schemas.openxmlformats.org/drawingml/2006/main">
            <a:pPr>
              <a:defRPr sz="1875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FROM crm_list_notes(p_lead_id) r;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7153A-4F7E-4723-A704-02AA1EBE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Controllers forward the result. Backend validation and error responses remain in Node.</a:t>
            </a:r>
          </a:p>
        </p:txBody>
      </p:sp>
    </p:spTree>
    <p:extLst>
      <p:ext uri="{BB962C8B-B14F-4D97-AF65-F5344CB8AC3E}">
        <p14:creationId xmlns:p14="http://schemas.microsoft.com/office/powerpoint/2010/main" val="1537596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81E45-DE7B-4B86-B1E1-8BEF3714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Pagination and response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F01A4-8D7F-49E4-8746-B8F58E3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46D1A-B950-4B6F-8E28-2A2A81B7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B615C-81A3-46B4-8B32-0CE50D9A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User choice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438BB-2171-4F69-941A-9285670A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5, 10, 20, 50 or 100 rows. Default: 10. API maximum: 100.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D5A82-954B-43C1-864C-B0932C2C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3CF8E-CF03-47F8-B576-BEAC04C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GET /api/dashboard?page=2&amp;pageSize=5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BC03D-6409-4829-81E4-206F11D0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6AD6B-5757-48A5-BDA2-40AF82F0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Up to 5 recent leads, full metrics and page/total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064CA-C1FD-4908-ACD0-F24F9F0C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8BC4B-1C73-4E8F-814A-DF668C58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With 23 leads: page 2 shows rows 6–10. Total pages: 5.</a:t>
            </a:r>
          </a:p>
        </p:txBody>
      </p:sp>
    </p:spTree>
    <p:extLst>
      <p:ext uri="{BB962C8B-B14F-4D97-AF65-F5344CB8AC3E}">
        <p14:creationId xmlns:p14="http://schemas.microsoft.com/office/powerpoint/2010/main" val="17626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AA32D-7D1A-4F45-AB12-56CBF68F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Login and 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C6FA2-D3AA-4139-A871-64AE5A3F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22024-B2BA-4D63-8341-6781DFBA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EBAB-F602-4D6E-8F3F-CB3786D2AA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53a62df045de"/>
          <a:stretch xmlns:a="http://schemas.openxmlformats.org/drawingml/2006/main"/>
        </p:blipFill>
        <p:spPr>
          <a:xfrm xmlns:a="http://schemas.openxmlformats.org/drawingml/2006/main">
            <a:off x="612775" y="1476375"/>
            <a:ext cx="7518400" cy="42291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668A32-65F5-47B0-B529-2AC7CD5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14500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Demo credentials stay visible and can fill the 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9AD79-D929-4FC0-82BC-BBC52CD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Client navigation updates pages and filters without a full document reload.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CCFF3-1EEE-439F-98E2-CAD38C2F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6252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The active sidebar link is a no-op.</a:t>
            </a:r>
          </a:p>
        </p:txBody>
      </p:sp>
    </p:spTree>
    <p:extLst>
      <p:ext uri="{BB962C8B-B14F-4D97-AF65-F5344CB8AC3E}">
        <p14:creationId xmlns:p14="http://schemas.microsoft.com/office/powerpoint/2010/main" val="7117222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C5113-6615-41CC-9CCA-FD7E2B2A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Verification and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C886-A683-4FCD-B794-1526DCA0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8BC5D-0874-4431-BBE4-00D46DE7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E535D-0A36-4262-BD8F-A979AA08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E1272-FCB6-4909-9113-4952ED78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Eight backend tests cover CRUD, auth, SQL JSON and pagination.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4A78-8BE9-4FBF-B03B-37AC28D3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Frontend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5635F-653F-4443-BE49-B589D0A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Production build, lint and browser acceptance completed.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036C4-BA39-469F-B213-58667C7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Database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1A08C-AC44-47B2-8036-196DA828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Stored functions installed. PostgreSQL JSON/page-size check passed.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D3FE5-E330-4A79-AD2F-EC4B03C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Demo 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A1A0E-0DFD-47C5-9C4F-D59914F9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Run seed-demo to install the accounts shown on the login page.</a:t>
            </a:r>
          </a:p>
        </p:txBody>
      </p:sp>
    </p:spTree>
    <p:extLst>
      <p:ext uri="{BB962C8B-B14F-4D97-AF65-F5344CB8AC3E}">
        <p14:creationId xmlns:p14="http://schemas.microsoft.com/office/powerpoint/2010/main" val="10405425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EFC70-0215-4861-BC24-265128BA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Assumptions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11708-AE94-4C51-88DB-3F0EB8B1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PROPLEAD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F015F-D660-4357-9588-D80F1045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E7330-1F87-4A17-90EF-05133A6D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Business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EA4E0-3995-45FD-B3D2-7309C848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One shared real estate lead pool. Tenant isolation is future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7EEE9-B098-4729-AF44-ED2DE589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Conversion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87821-D40D-4A11-9ACF-6BD62DD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Closed leads divided by total leads, multiplied by 100.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B34F0-2A3C-48A5-BD23-71C28C19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Data meaning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F512E-2CD6-4EB0-8AFE-0832D158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Budget is the prospect’s budget. It is not collected revenue.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840E12-C0CD-4140-84C9-F153A361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Access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02761-6567-4282-AA5E-E23D76A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Current roles are Admin and CRM. Dynamic permissions are future scope.</a:t>
            </a:r>
          </a:p>
        </p:txBody>
      </p:sp>
    </p:spTree>
    <p:extLst>
      <p:ext uri="{BB962C8B-B14F-4D97-AF65-F5344CB8AC3E}">
        <p14:creationId xmlns:p14="http://schemas.microsoft.com/office/powerpoint/2010/main" val="14520224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A84AF-5B49-4BA1-8B68-C2A07515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Future frontend: dynamic RBAC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51680-F627-41FA-866F-797AEBFF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FUTURE SCOPE (NOT IMPLEMENTED)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167CC-A5B7-47E8-8CF4-7113FFA8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97338-C6D8-4F04-8FFE-3DA756E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Permission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63682-907A-4ED6-A6A9-70CE20C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Define permissions such as lead.read, lead.edit and user.manage.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58BC8-08DD-4AC0-A319-408EEE44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Dynamic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26837-9419-4F45-8F60-9F64994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Use permission metadata to control routes, menus and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4832-F32C-4E59-909C-479454B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Enforcement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A7117-3E71-49AD-B2E3-1301C9B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Apply the same policy at API boundaries and resource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A7A55-8941-48B3-BF1D-94B67D0B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C2941-80C2-4ABD-96EC-1977C6E4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Add role-permission management and permission-focused tests.</a:t>
            </a:r>
          </a:p>
        </p:txBody>
      </p:sp>
    </p:spTree>
    <p:extLst>
      <p:ext uri="{BB962C8B-B14F-4D97-AF65-F5344CB8AC3E}">
        <p14:creationId xmlns:p14="http://schemas.microsoft.com/office/powerpoint/2010/main" val="17465594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F32B2D-586A-4B57-8BBB-A20B466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Future frontend: shared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C1D43-3294-4915-8B59-96FA9CB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FUTURE SCOPE (NOT IMPLEMENTED)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0E164-4F1D-4931-BDD1-E290F96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44831-4A2B-4B49-A074-0FE5EF0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1.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DB4FC-E824-4518-945B-E266C39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Shared styles, accessible controls and a permission hook.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E3786-7AB6-453B-A810-41356FF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2. 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735B4-7951-4A63-B3FA-B007D41B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Reusable fields, validation, error states and submission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F3C5F-FF00-45B9-9EA0-34A172F0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3.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EFA39-6BE1-4C76-85F2-A17546EE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Reusable columns, filters, sorting and server pagination.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0B14-3282-4BB4-BB20-A39DBFBE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4. Feature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5656F-09E1-4BD1-B8DF-27DEDA0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Lazy-load suitable modules and add Suspense/loading boundaries.</a:t>
            </a:r>
          </a:p>
        </p:txBody>
      </p:sp>
    </p:spTree>
    <p:extLst>
      <p:ext uri="{BB962C8B-B14F-4D97-AF65-F5344CB8AC3E}">
        <p14:creationId xmlns:p14="http://schemas.microsoft.com/office/powerpoint/2010/main" val="264044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EA92B-2DE5-4FD8-8620-EE44C04E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Future backend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6C30C-7F2C-4674-8FEE-189BF7D1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FUTURE SCOPE (NOT IMPLEMENTED)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644DF-AC42-4F25-8529-384F5429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80DCC-78AB-419C-BA40-2E5CCDD9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Audit 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2DF73-CA11-4313-AA1E-1E48403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Record actor, action, timestamp and relevant before/after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7FAC7-33E0-433E-A314-F29D09F8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Ledger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5DA0-6BA7-405E-9C6D-8952AF2F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Add immutable financial entries only if payments enter scope.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427C4-609F-4EB1-8692-A1F7705D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Caching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A049D-5DE5-4CF1-9150-B11E016B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Cache suitable reads with explicit invalidation after writes.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979DB-082C-4BAB-97A9-08063105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Refresh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2E70D-773E-4D71-AB54-998807B6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Plan rotation, revocation and reuse detection for longer sessions.</a:t>
            </a:r>
          </a:p>
        </p:txBody>
      </p:sp>
    </p:spTree>
    <p:extLst>
      <p:ext uri="{BB962C8B-B14F-4D97-AF65-F5344CB8AC3E}">
        <p14:creationId xmlns:p14="http://schemas.microsoft.com/office/powerpoint/2010/main" val="2749084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5557D-C2E3-4B87-8B98-9F26313B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2A"/>
                </a:solidFill>
                <a:latin typeface="Arial"/>
                <a:ea typeface="Arial"/>
                <a:cs typeface="Arial"/>
              </a:rPr>
              <a:t>Proposed delivery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56488-245E-440A-A757-6AFF6394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FUTURE SCOPE (NOT IMPLEMENTED)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5C384-CE36-4302-8A45-67156503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45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833BE-533F-4131-8F36-B8D2B8C5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3E399-EE4D-40BE-BD43-53483A1C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573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Confirm permission rules, tenant boundaries and audit requirements.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7D5D5-419F-4973-8DE8-1E572D5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FC079-4220-4C10-BF86-4BCBAA42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Build the shared library, dynamic RBAC and focused loading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136E6-AB09-470D-9AA0-F2917CC9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Then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D38EF-F435-4830-8E5E-A7EEEB7F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909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Add audit and session improvements with security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35577-3547-40EE-94C8-E05E2CCD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When justified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62523-A146-4879-BDDE-56E9D6C4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7753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2F2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2F2A"/>
                </a:solidFill>
                <a:latin typeface="Arial"/>
                <a:ea typeface="Arial"/>
                <a:cs typeface="Arial"/>
              </a:rPr>
              <a:t>Introduce caching from measured demand and a ledger from financial scope.</a:t>
            </a:r>
          </a:p>
        </p:txBody>
      </p:sp>
    </p:spTree>
    <p:extLst>
      <p:ext uri="{BB962C8B-B14F-4D97-AF65-F5344CB8AC3E}">
        <p14:creationId xmlns:p14="http://schemas.microsoft.com/office/powerpoint/2010/main" val="765647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2026-10-13T01:18:02.9580000Z</dcterms:created>
  <dcterms:modified xsi:type="dcterms:W3CDTF">2026-10-13T01:18:02.9590000Z</dcterms:modified>
</coreProperties>
</file>